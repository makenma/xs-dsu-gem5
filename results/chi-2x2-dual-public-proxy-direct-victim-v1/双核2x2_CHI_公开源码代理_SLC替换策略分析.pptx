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DE0CD"/>
                </a:solidFill>
                <a:latin typeface="Aptos"/>
              </a:defRPr>
            </a:pPr>
            <a:r>
              <a:t>GEM5 · CHI · PUBLIC-SOURCE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6809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双核 2×2 CHI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共享 SLC 替换策略分析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8138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D5E6"/>
                </a:solidFill>
                <a:latin typeface="Aptos"/>
              </a:defRPr>
            </a:pPr>
            <a:r>
              <a:t>True LRU · Fixed-seed Random · Deterministic 2-bit SRRIP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18688"/>
            <a:ext cx="8138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DE0CD"/>
                </a:solidFill>
                <a:latin typeface="Aptos"/>
              </a:defRPr>
            </a:pPr>
            <a:r>
              <a:t>Direct-PoCQ dirty victim · no persistent SLC victim buffer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078992"/>
            <a:ext cx="2560320" cy="361188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353312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5DE0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3808" y="1581912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CPU / RNF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331720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29B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808" y="2560320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共享 HNF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33756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7B61D1"/>
                </a:solidFill>
                <a:latin typeface="Aptos"/>
              </a:defRPr>
            </a:pPr>
            <a:r>
              <a:t>16,384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822191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SLC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64608"/>
            <a:ext cx="7178040" cy="612648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38344"/>
            <a:ext cx="6675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1D1"/>
                </a:solidFill>
                <a:latin typeface="Noto Sans CJK SC"/>
              </a:defRPr>
            </a:pPr>
            <a:r>
              <a:t>公开源码代理负载 · 不是 SPEC CPU2006 · 所有结果均非 SPEC 分数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99632"/>
            <a:ext cx="5303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292AA"/>
                </a:solidFill>
                <a:latin typeface="Aptos"/>
              </a:defRPr>
            </a:pPr>
            <a:r>
              <a:t>正式 ROI：2B ticks / policy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实验问题与结果口径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替换策略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LRU / Random / SRRIP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81328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固定 ticks / 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每核 4,597,700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81328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81328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81912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56816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共同满载 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31136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相同 workload / memory /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07792"/>
            <a:ext cx="6903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核心问题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6263640" cy="1417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在真实双核竞争同一 HNF/SLC 时，替换策略如何影响两核 IPC？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victim 减少是否一定转化为更高系统性能？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移除错误 SLC victim-buffer 后，Replay 与性能如何变化？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2907792"/>
            <a:ext cx="3913632" cy="2468880"/>
          </a:xfrm>
          <a:prstGeom prst="roundRect">
            <a:avLst/>
          </a:prstGeom>
          <a:solidFill>
            <a:srgbClr val="FCE6E6"/>
          </a:solidFill>
          <a:ln w="10160">
            <a:solidFill>
              <a:srgbClr val="F3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5C5C"/>
                </a:solidFill>
                <a:latin typeface="Noto Sans CJK SC"/>
              </a:defRPr>
            </a:pPr>
            <a:r>
              <a:t>严格分类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611880"/>
            <a:ext cx="324612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libquantum 0.2.4 与 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是公开源码代理程序。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不是 SPEC CPU2006 workload；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任何 IPC 都不是 SPEC 分数。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2×2 Mesh：2 CPU / 2 RNF / 1 HNF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3 /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02152" y="2240279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02152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19871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02152" y="5074920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74519"/>
            <a:ext cx="1243584" cy="7315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Router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(0,0)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74519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(1,0)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709160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(0,1)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709160"/>
            <a:ext cx="1243584" cy="7315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Router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(1,1)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1627632"/>
            <a:ext cx="1664208" cy="9601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18288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CPU0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31136" y="2112264"/>
            <a:ext cx="649224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2999232"/>
            <a:ext cx="1664208" cy="960120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004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CPU1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31136" y="3474720"/>
            <a:ext cx="34747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78608" y="2359152"/>
            <a:ext cx="0" cy="1115568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78608" y="2359152"/>
            <a:ext cx="30175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1627632"/>
            <a:ext cx="1993392" cy="896112"/>
          </a:xfrm>
          <a:prstGeom prst="roundRect">
            <a:avLst/>
          </a:prstGeom>
          <a:solidFill>
            <a:srgbClr val="E2F6EC"/>
          </a:solidFill>
          <a:ln w="10160">
            <a:solidFill>
              <a:srgbClr val="2FA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1901952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A56F"/>
                </a:solidFill>
                <a:latin typeface="Noto Sans CJK SC"/>
              </a:defRPr>
            </a:pPr>
            <a:r>
              <a:t>SN 0x80 → Memory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741664" y="2084831"/>
            <a:ext cx="630936" cy="64009"/>
          </a:xfrm>
          <a:prstGeom prst="line">
            <a:avLst/>
          </a:prstGeom>
          <a:ln w="25400">
            <a:solidFill>
              <a:srgbClr val="2FA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0848" y="4297680"/>
            <a:ext cx="2542032" cy="1261872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4517136"/>
            <a:ext cx="21762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共享 HNF · 0x90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SLC 1 MiB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1024×16×64 B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741664" y="4956048"/>
            <a:ext cx="329184" cy="118872"/>
          </a:xfrm>
          <a:prstGeom prst="line">
            <a:avLst/>
          </a:prstGeom>
          <a:ln w="25400">
            <a:solidFill>
              <a:srgbClr val="F29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26080" y="587044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Router 2 为纯中转；HNF 位于 (1,1)，汇聚两个 RNF 的共享请求。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固定 CPU / workload 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5449824" cy="67665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libquantum 0.2.4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Shor 公开源码代理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456432"/>
            <a:ext cx="3931920" cy="53035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1397 8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7168" y="4480560"/>
            <a:ext cx="47548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90088" y="4169663"/>
            <a:ext cx="2395728" cy="65836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8104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499616"/>
            <a:ext cx="5449824" cy="67665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Token Ring 公开源码代理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3456432"/>
            <a:ext cx="3931920" cy="530352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Aptos"/>
              </a:defRPr>
            </a:pPr>
            <a:r>
              <a:t>-f omnetpp.ini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83296" y="4480560"/>
            <a:ext cx="475488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86216" y="4169663"/>
            <a:ext cx="2395728" cy="65836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这是双核混合负载，不是单程序多线程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2743200" cy="93268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独立地址空间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CPU0 / PID100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2093976"/>
            <a:ext cx="1261872" cy="886968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2953512"/>
            <a:ext cx="2743200" cy="93268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3639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独立地址空间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7472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CPU1 / PID101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401568" y="2980944"/>
            <a:ext cx="1261872" cy="438912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0" y="2395728"/>
            <a:ext cx="2880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51760"/>
            <a:ext cx="25146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 gem5 实例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同一时间窗口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980944"/>
            <a:ext cx="1051560" cy="0"/>
          </a:xfrm>
          <a:prstGeom prst="line">
            <a:avLst/>
          </a:prstGeom>
          <a:ln w="2540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95360" y="2286000"/>
            <a:ext cx="2761488" cy="14173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2624328"/>
            <a:ext cx="224942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共享 HNF/SLC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发生真实竞争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6984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82896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5C5C"/>
                </a:solidFill>
                <a:latin typeface="Noto Sans CJK SC"/>
              </a:defRPr>
            </a:pPr>
            <a:r>
              <a:t>不允许的解释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64608"/>
            <a:ext cx="8549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04158"/>
                </a:solidFill>
                <a:latin typeface="Noto Sans CJK SC"/>
              </a:defRPr>
            </a:pPr>
            <a:r>
              <a:t>≠ 一个程序跨两核并行    ≠ 两次单核结果拼接    ≠ 策略间交换 CPU 映射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公平起点：同一严格满载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1,378,457,840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Checkpoint tick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全局 drain 后保存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99616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16,384 / 16,384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SLC valid /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 set 最大 16 valid 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99616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99616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600200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[4.394M, 3.176M]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75104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CPU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49424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CPU0 / CPU1 累计指令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71800"/>
            <a:ext cx="11045952" cy="2578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255264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三策略相同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75887"/>
            <a:ext cx="603504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gem5 binary、拓扑、时钟、内存、私有缓存、SLC/SF 内容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两个 ELF、参数、cwd、CPU/RNF 固定映射与进程内存状态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固定 2B-tick ROI、stats reset 边界与 Random seed 20260730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3310128"/>
            <a:ext cx="3886200" cy="1673352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3611880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97A91"/>
                </a:solidFill>
                <a:latin typeface="Noto Sans CJK SC"/>
              </a:defRPr>
            </a:pPr>
            <a:r>
              <a:t>唯一变量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408736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Aptos"/>
              </a:defRPr>
            </a:pPr>
            <a:r>
              <a:t>SLC replacement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452628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Aptos"/>
              </a:defRPr>
            </a:pPr>
            <a:r>
              <a:t>LRU  /  Random  /  SRRIP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Phase A Fill/Warm-up → Phase B Replacement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7 /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337560"/>
            <a:ext cx="10012680" cy="0"/>
          </a:xfrm>
          <a:prstGeom prst="line">
            <a:avLst/>
          </a:prstGeom>
          <a:ln w="889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" y="3090672"/>
            <a:ext cx="493776" cy="49377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冷启动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tick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双进程 active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3090672"/>
            <a:ext cx="493776" cy="493776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88F"/>
                </a:solidFill>
                <a:latin typeface="Noto Sans CJK SC"/>
              </a:defRPr>
            </a:pPr>
            <a:r>
              <a:t>第一次满载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1,264,513,580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[4.133M, 3.146M]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090672"/>
            <a:ext cx="493776" cy="493776"/>
          </a:xfrm>
          <a:prstGeom prst="ellipse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严格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1,378,457,840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16,384 / 16,384</a:t>
            </a:r>
          </a:p>
        </p:txBody>
      </p:sp>
      <p:sp>
        <p:nvSpPr>
          <p:cNvPr id="18" name="Oval 17"/>
          <p:cNvSpPr/>
          <p:nvPr/>
        </p:nvSpPr>
        <p:spPr>
          <a:xfrm>
            <a:off x="9345168" y="3090672"/>
            <a:ext cx="493776" cy="493776"/>
          </a:xfrm>
          <a:prstGeom prst="ellipse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9B38"/>
                </a:solidFill>
                <a:latin typeface="Noto Sans CJK SC"/>
              </a:defRPr>
            </a:pPr>
            <a:r>
              <a:t>正式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+2B ticks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reset stats 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5212080" cy="960120"/>
          </a:xfrm>
          <a:prstGeom prst="roundRect">
            <a:avLst/>
          </a:prstGeom>
          <a:solidFill>
            <a:srgbClr val="DDF6F0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Warm-up 不计入策略性能比较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617720"/>
            <a:ext cx="5212080" cy="9601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29B38"/>
                </a:solidFill>
                <a:latin typeface="Noto Sans CJK SC"/>
              </a:defRPr>
            </a:pPr>
            <a:r>
              <a:t>ROI 内两核始终 active 且持续 replacement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三种替换策略的精确定义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3456432" cy="685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" y="2587752"/>
            <a:ext cx="2505456" cy="94183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oldest  ←  recency  →  newest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命中更新 recency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选择最久未使用有效 line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无效 way 优先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499616"/>
            <a:ext cx="3456432" cy="685800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87752"/>
            <a:ext cx="2505456" cy="941832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way = RNG(seed) %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满组时均匀选择有效 way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固定 seed = 20260730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正式 ROI 与其他策略等长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5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5" y="1499616"/>
            <a:ext cx="3456432" cy="685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2-bit SRRIP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3" y="2587752"/>
            <a:ext cx="2505456" cy="941832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0  ·  1  ·  2  ·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Hit → RRPV 0；Insert → 2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优先 RRPV 3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否则饱和老化直到有候选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099048"/>
            <a:ext cx="6309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5C5C"/>
                </a:solidFill>
                <a:latin typeface="Noto Sans CJK SC"/>
              </a:defRPr>
            </a:pPr>
            <a:r>
              <a:t>SRRIP ≠ BRRIP / DRRIP；本实验不使用模糊的“RRIP”标签。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满载与持续替换：三策略均满足有效性条件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三策略峰值占用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16,384 / 16,384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44752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&gt; 2.81M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Full SLC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每个策略都持续满载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44752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44752"/>
            <a:ext cx="68580" cy="10607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45336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&gt; 73.0K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20240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Replacement / victim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194560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每个策略均大于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852928"/>
            <a:ext cx="53492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017520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Full SLC cycles（百万）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8844" y="3511296"/>
            <a:ext cx="658368" cy="18928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26440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2.899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8084" y="3533704"/>
            <a:ext cx="658368" cy="1870399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7648" y="3286816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2.865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764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7324" y="3523048"/>
            <a:ext cx="658368" cy="188105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6888" y="3276160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2.881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688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852928"/>
            <a:ext cx="546811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017520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Total SLC victims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16496" y="3518194"/>
            <a:ext cx="658368" cy="1885909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271306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74,091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544920"/>
            <a:ext cx="658368" cy="1859183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5112" y="3298032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73,041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5112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74224" y="3511296"/>
            <a:ext cx="658368" cy="18928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3976" y="326440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74,362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3976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每核 IPC：系统排名由两个 workload 共同决定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CPU0 / libquantum proxy IPC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10511"/>
            <a:ext cx="658368" cy="325701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63623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1.6060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33743"/>
            <a:ext cx="658368" cy="323378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86855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1.5946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103120"/>
            <a:ext cx="658368" cy="32644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1.6097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CPU1 / OMNeT++ proxy IPC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273109"/>
            <a:ext cx="658368" cy="309441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02622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0.4241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03120"/>
            <a:ext cx="658368" cy="326440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0.4474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264650"/>
            <a:ext cx="658368" cy="3102877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2017762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0.4252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6053328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相对 Random：LRU +0.7184% / -5.2074%；SRRIP +0.9470% / -4.9482%（CPU0 / CPU1）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Aggregate IPC：固定共同 cycle 的系统吞吐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681228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6355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Aggregate IPC = (CPU0 inst + CPU1 inst) / common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2684" y="2121891"/>
            <a:ext cx="658368" cy="32182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75003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2.0301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9604" y="2103120"/>
            <a:ext cx="658368" cy="323697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5328" y="1856231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2.0419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32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6524" y="2114275"/>
            <a:ext cx="658368" cy="32258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248" y="1867387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2.0349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224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6096" y="1444752"/>
            <a:ext cx="39867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83080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2450592"/>
            <a:ext cx="3337560" cy="96012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63347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59689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-0.01184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4976" y="265176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-0.5799%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3685032"/>
            <a:ext cx="3337560" cy="960120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386791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3133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-0.00704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388620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-0.3446%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4901184"/>
            <a:ext cx="33375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Noto Sans CJK SC"/>
              </a:defRPr>
            </a:pPr>
            <a:r>
              <a:t>Random = 2.041935（本窗口最高）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Noto Sans CJK SC"/>
              </a:defRPr>
            </a:pPr>
            <a:r>
              <a:t>host elapsed = 562.2s（并非最快）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Clean / Dirty / Total victim：同时查看 raw 与归一化率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Victim 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423160"/>
            <a:ext cx="627421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6221" y="2423160"/>
            <a:ext cx="4674992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560320"/>
            <a:ext cx="58170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8,767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9373" y="2560320"/>
            <a:ext cx="45378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65,324 dirty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551176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74,091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47288"/>
            <a:ext cx="598866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7666" y="3447288"/>
            <a:ext cx="4628402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584448"/>
            <a:ext cx="55314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8,368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0818" y="3584448"/>
            <a:ext cx="449124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64,673 dirty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575304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73,041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471416"/>
            <a:ext cx="634720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3520" y="4471416"/>
            <a:ext cx="4687087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608576"/>
            <a:ext cx="589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8,869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6672" y="4608576"/>
            <a:ext cx="454992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65,493 dirty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599432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74,362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45059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359152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+1,050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+1.4375%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52044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429000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+1,321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+1.8086%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4773168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D95C5C"/>
                </a:solidFill>
                <a:latin typeface="Noto Sans CJK SC"/>
              </a:defRPr>
            </a:pPr>
            <a:r>
              <a:t>固定时间内的 raw victim 仍需按指令数归一化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Victim-by-RNF：RNF0 是主要 requester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057400"/>
            <a:ext cx="4737778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075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63,165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441448"/>
            <a:ext cx="819519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459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10,926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4699525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3218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62,655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584448"/>
            <a:ext cx="779016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602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10,386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343400"/>
            <a:ext cx="4754880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361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63,393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4727448"/>
            <a:ext cx="822745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4745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10,969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F6FED"/>
                </a:solidFill>
                <a:latin typeface="Noto Sans CJK SC"/>
              </a:defRPr>
            </a:pPr>
            <a:r>
              <a:t>归属含义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22576"/>
            <a:ext cx="274320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按触发 replacement 的 requester/RNF 计数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三策略 RNF0 占 85.2%–85.8%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不是被替换 line 的原始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4343400"/>
            <a:ext cx="25603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每行 RNF0 + RNF1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严格等于 total victim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SLC / SF 命中与占用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SLC hit rate（%）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3018943"/>
            <a:ext cx="658368" cy="157134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772055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1.621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03120"/>
            <a:ext cx="658368" cy="248716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2.566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998764"/>
            <a:ext cx="658368" cy="1591523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2751876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1.642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SF hit rate（%）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103120"/>
            <a:ext cx="658368" cy="24871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1.449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318241"/>
            <a:ext cx="658368" cy="227204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2071353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1.324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76641"/>
            <a:ext cx="658368" cy="241364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929753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1.407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57800"/>
            <a:ext cx="1104595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477256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ROI 峰值占用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1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6144768"/>
            <a:ext cx="8961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ROI 末态有效行：LRU 16,384 / Random 16,384 / SRRIP 16,384；三策略起点和峰值均为精确满载。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HNF 压力：移除不存在的 SLC victim-buffer 阻塞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Terminal Replay / 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03120"/>
            <a:ext cx="658368" cy="32644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2.370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485690"/>
            <a:ext cx="658368" cy="2881837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2238802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2.093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316900"/>
            <a:ext cx="658368" cy="3050627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2070012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2.215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HNF service stalls / KI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103120"/>
            <a:ext cx="658368" cy="32644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26.559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24223"/>
            <a:ext cx="658368" cy="32433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877335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26.388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29967"/>
            <a:ext cx="658368" cy="323756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883079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26.341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6053328"/>
            <a:ext cx="9784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LRU / Random / SRRIP 的 victimBufferFullReplays 全部为 0；旧模型 Replay/KI 均下降约 95%。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NoC traffic 与热点：HNF Router 始终最热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4864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NoC traffic score（百万 flit-events）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1704" y="2111694"/>
            <a:ext cx="658368" cy="3228401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6480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7.078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6664" y="2134188"/>
            <a:ext cx="658368" cy="3205907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3368" y="1887300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7.029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336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1624" y="2103120"/>
            <a:ext cx="658368" cy="32369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8328" y="1856231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7.097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832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44752"/>
            <a:ext cx="530352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热点排序（所有策略一致）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331720"/>
            <a:ext cx="4526280" cy="512064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245973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441448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Router 3 · (1,1)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5973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Noto Sans CJK SC"/>
              </a:defRPr>
            </a:pPr>
            <a:r>
              <a:t>HNF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044952"/>
            <a:ext cx="4526280" cy="512064"/>
          </a:xfrm>
          <a:prstGeom prst="roundRect">
            <a:avLst/>
          </a:prstGeom>
          <a:solidFill>
            <a:srgbClr val="E2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17296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Aptos"/>
              </a:defRPr>
            </a:pPr>
            <a: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54680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A56F"/>
                </a:solidFill>
                <a:latin typeface="Aptos"/>
              </a:defRPr>
            </a:pPr>
            <a:r>
              <a:t>Router 1 · (1,0)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7296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Noto Sans CJK SC"/>
              </a:defRPr>
            </a:pPr>
            <a:r>
              <a:t>SN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58183"/>
            <a:ext cx="4526280" cy="512064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3886199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67911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Router 0 · (0,0)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886199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Noto Sans CJK SC"/>
              </a:defRPr>
            </a:pPr>
            <a:r>
              <a:t>双 RNF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471416"/>
            <a:ext cx="4526280" cy="51206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81144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Aptos"/>
              </a:defRPr>
            </a:pPr>
            <a:r>
              <a:t>Router 2 · (0,1)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599431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Noto Sans CJK SC"/>
              </a:defRPr>
            </a:pPr>
            <a:r>
              <a:t>Transit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349240"/>
            <a:ext cx="4160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LRU / SRRIP 相对 Random traffic：+0.7016% / +0.9691%；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Random 的 traffic 最低。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5DE0CD"/>
                </a:solidFill>
                <a:latin typeface="Aptos"/>
              </a:defRPr>
            </a:pPr>
            <a:r>
              <a:t>CONCLUSION /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结论：本窗口中 Random aggregate IPC 最高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2.041935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Random aggregate IPC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-0.5799%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LRU vs Random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-0.3446%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SRRIP vs Random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6812280" cy="2084831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E0CD"/>
                </a:solidFill>
                <a:latin typeface="Noto Sans CJK SC"/>
              </a:defRPr>
            </a:pPr>
            <a:r>
              <a:t>如何解释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40480"/>
            <a:ext cx="6126480" cy="12344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三策略 victimBufferFullReplays 均为 0；旧模型人为瓶颈已移除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相对旧模型 IPC 提升 26.95%–28.39%；Replay/KI 约下降 95%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Random 的 CPU1 进展、SLC hit、Replay 与 traffic 组合更有利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结论限定于当前代理负载、拓扑、checkpoint 与 2B-tick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154680"/>
            <a:ext cx="3639312" cy="2084831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1D1"/>
                </a:solidFill>
                <a:latin typeface="Noto Sans CJK SC"/>
              </a:defRPr>
            </a:pPr>
            <a:r>
              <a:t>不可越界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886200"/>
            <a:ext cx="299923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公开源码代理 ≠ SPEC CPU2006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一次正式运行 ≠ 置信区间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当前排序 ≠ 普适策略排名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652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3A3B7"/>
                </a:solidFill>
                <a:latin typeface="Aptos"/>
              </a:defRPr>
            </a:pPr>
            <a:r>
              <a:t>复现：README.md · EXPERIMENT_REPORT_ZH.md · manifest.json · analysis/*.csv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E829E"/>
                </a:solidFill>
                <a:latin typeface="Aptos"/>
              </a:defRPr>
            </a:pPr>
            <a:r>
              <a:t>public-source proxy; not SPEC CPU2006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