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DE0CD"/>
                </a:solidFill>
                <a:latin typeface="Aptos"/>
              </a:defRPr>
            </a:pPr>
            <a:r>
              <a:t>GEM5 · CHI · PUBLIC-SOURCE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768096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Noto Sans CJK SC"/>
              </a:defRPr>
            </a:pPr>
            <a:r>
              <a:t>双核 2×2 CHI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Noto Sans CJK SC"/>
              </a:defRPr>
            </a:pPr>
            <a:r>
              <a:t>共享 SLC 替换策略分析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8138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D5E6"/>
                </a:solidFill>
                <a:latin typeface="Aptos"/>
              </a:defRPr>
            </a:pPr>
            <a:r>
              <a:t>True LRU · Fixed-seed Random · Deterministic 2-bit SRRIP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078992"/>
            <a:ext cx="2560320" cy="3611880"/>
          </a:xfrm>
          <a:prstGeom prst="roundRect">
            <a:avLst/>
          </a:prstGeom>
          <a:solidFill>
            <a:srgbClr val="14263F"/>
          </a:solidFill>
          <a:ln w="10160">
            <a:solidFill>
              <a:srgbClr val="304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89720" y="1353312"/>
            <a:ext cx="7315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5DE0C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93808" y="1581912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CPU / RNF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2331720"/>
            <a:ext cx="7315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29B3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93808" y="2560320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共享 HNF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3337560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7B61D1"/>
                </a:solidFill>
                <a:latin typeface="Aptos"/>
              </a:defRPr>
            </a:pPr>
            <a:r>
              <a:t>16,384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3822191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SLC 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864608"/>
            <a:ext cx="7178040" cy="612648"/>
          </a:xfrm>
          <a:prstGeom prst="roundRect">
            <a:avLst/>
          </a:prstGeom>
          <a:solidFill>
            <a:srgbClr val="2A2030"/>
          </a:solidFill>
          <a:ln w="10160">
            <a:solidFill>
              <a:srgbClr val="6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038344"/>
            <a:ext cx="6675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1D1"/>
                </a:solidFill>
                <a:latin typeface="Noto Sans CJK SC"/>
              </a:defRPr>
            </a:pPr>
            <a:r>
              <a:t>公开源码代理负载 · 不是 SPEC CPU2006 · 所有结果均非 SPEC 分数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99632"/>
            <a:ext cx="5303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292AA"/>
                </a:solidFill>
                <a:latin typeface="Aptos"/>
              </a:defRPr>
            </a:pPr>
            <a:r>
              <a:t>正式 ROI：2B ticks / policy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实验问题与结果口径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2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68580" cy="10607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581912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6FE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56816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替换策略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231136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LRU / Random / SRRIP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1481328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1481328"/>
            <a:ext cx="68580" cy="106070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581912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A88F"/>
                </a:solidFill>
                <a:latin typeface="Aptos"/>
              </a:defRPr>
            </a:pPr>
            <a:r>
              <a:t>2B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56816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固定 ticks / 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31136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每核 4,597,700 cycles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1481328"/>
            <a:ext cx="3803904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08975" y="1481328"/>
            <a:ext cx="68580" cy="1060704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1581912"/>
            <a:ext cx="35295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7B61D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1956816"/>
            <a:ext cx="352958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共同满载 checkpoint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4" y="2231136"/>
            <a:ext cx="3529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相同 workload / memory / cache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907792"/>
            <a:ext cx="6903720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182112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Noto Sans CJK SC"/>
              </a:defRPr>
            </a:pPr>
            <a:r>
              <a:t>核心问题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621024"/>
            <a:ext cx="6263640" cy="1417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04158"/>
                </a:solidFill>
                <a:latin typeface="Noto Sans CJK SC"/>
              </a:defRPr>
            </a:pPr>
            <a:r>
              <a:t>•  在真实双核竞争同一 HNF/SLC 时，替换策略如何影响两核 IPC？</a:t>
            </a:r>
          </a:p>
          <a:p>
            <a:pPr>
              <a:spcAft>
                <a:spcPts val="700"/>
              </a:spcAft>
              <a:defRPr sz="1300">
                <a:solidFill>
                  <a:srgbClr val="304158"/>
                </a:solidFill>
                <a:latin typeface="Noto Sans CJK SC"/>
              </a:defRPr>
            </a:pPr>
            <a:r>
              <a:t>•  victim 减少是否一定转化为更高系统性能？</a:t>
            </a:r>
          </a:p>
          <a:p>
            <a:pPr>
              <a:spcAft>
                <a:spcPts val="700"/>
              </a:spcAft>
              <a:defRPr sz="1300">
                <a:solidFill>
                  <a:srgbClr val="304158"/>
                </a:solidFill>
                <a:latin typeface="Noto Sans CJK SC"/>
              </a:defRPr>
            </a:pPr>
            <a:r>
              <a:t>•  HNF 排队与 NoC 热点能否解释策略差异？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2907792"/>
            <a:ext cx="3913632" cy="2468880"/>
          </a:xfrm>
          <a:prstGeom prst="roundRect">
            <a:avLst/>
          </a:prstGeom>
          <a:solidFill>
            <a:srgbClr val="FCE6E6"/>
          </a:solidFill>
          <a:ln w="10160">
            <a:solidFill>
              <a:srgbClr val="F3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3182112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5C5C"/>
                </a:solidFill>
                <a:latin typeface="Noto Sans CJK SC"/>
              </a:defRPr>
            </a:pPr>
            <a:r>
              <a:t>严格分类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3611880"/>
            <a:ext cx="3246120" cy="1481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304158"/>
                </a:solidFill>
                <a:latin typeface="Noto Sans CJK SC"/>
              </a:defRPr>
            </a:pPr>
            <a:r>
              <a:t>libquantum 0.2.4 与 OMNeT++ 3.3.2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304158"/>
                </a:solidFill>
                <a:latin typeface="Noto Sans CJK SC"/>
              </a:defRPr>
            </a:pPr>
            <a:r>
              <a:t>是公开源码代理程序。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304158"/>
                </a:solidFill>
                <a:latin typeface="Noto Sans CJK SC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304158"/>
                </a:solidFill>
                <a:latin typeface="Noto Sans CJK SC"/>
              </a:defRPr>
            </a:pPr>
            <a:r>
              <a:t>不是 SPEC CPU2006 workload；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304158"/>
                </a:solidFill>
                <a:latin typeface="Noto Sans CJK SC"/>
              </a:defRPr>
            </a:pPr>
            <a:r>
              <a:t>任何 IPC 都不是 SPEC 分数。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2×2 Mesh：2 CPU / 2 RNF / 1 HNF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3 / 17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02152" y="2240279"/>
            <a:ext cx="4617719" cy="0"/>
          </a:xfrm>
          <a:prstGeom prst="line">
            <a:avLst/>
          </a:prstGeom>
          <a:ln w="31750">
            <a:solidFill>
              <a:srgbClr val="93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02152" y="2240279"/>
            <a:ext cx="0" cy="2834641"/>
          </a:xfrm>
          <a:prstGeom prst="line">
            <a:avLst/>
          </a:prstGeom>
          <a:ln w="31750">
            <a:solidFill>
              <a:srgbClr val="93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19871" y="2240279"/>
            <a:ext cx="0" cy="2834641"/>
          </a:xfrm>
          <a:prstGeom prst="line">
            <a:avLst/>
          </a:prstGeom>
          <a:ln w="31750">
            <a:solidFill>
              <a:srgbClr val="93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02152" y="5074920"/>
            <a:ext cx="4617719" cy="0"/>
          </a:xfrm>
          <a:prstGeom prst="line">
            <a:avLst/>
          </a:prstGeom>
          <a:ln w="31750">
            <a:solidFill>
              <a:srgbClr val="93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1874519"/>
            <a:ext cx="1243584" cy="731520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965960"/>
            <a:ext cx="1243584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Noto Sans CJK SC"/>
              </a:defRPr>
            </a:pPr>
            <a:r>
              <a:t>Router 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Noto Sans CJK SC"/>
              </a:defRPr>
            </a:pPr>
            <a:r>
              <a:t>(0,0)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874519"/>
            <a:ext cx="1243584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7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965960"/>
            <a:ext cx="1243584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97A91"/>
                </a:solidFill>
                <a:latin typeface="Noto Sans CJK SC"/>
              </a:defRPr>
            </a:pPr>
            <a:r>
              <a:t>Router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97A91"/>
                </a:solidFill>
                <a:latin typeface="Noto Sans CJK SC"/>
              </a:defRPr>
            </a:pPr>
            <a:r>
              <a:t>(1,0)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4709160"/>
            <a:ext cx="1243584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7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4800600"/>
            <a:ext cx="1243584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97A91"/>
                </a:solidFill>
                <a:latin typeface="Noto Sans CJK SC"/>
              </a:defRPr>
            </a:pPr>
            <a:r>
              <a:t>Router 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97A91"/>
                </a:solidFill>
                <a:latin typeface="Noto Sans CJK SC"/>
              </a:defRPr>
            </a:pPr>
            <a:r>
              <a:t>(0,1)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709160"/>
            <a:ext cx="1243584" cy="731520"/>
          </a:xfrm>
          <a:prstGeom prst="roundRect">
            <a:avLst/>
          </a:prstGeom>
          <a:solidFill>
            <a:srgbClr val="FFF0DC"/>
          </a:solidFill>
          <a:ln w="10160"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4800600"/>
            <a:ext cx="1243584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Noto Sans CJK SC"/>
              </a:defRPr>
            </a:pPr>
            <a:r>
              <a:t>Router 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Noto Sans CJK SC"/>
              </a:defRPr>
            </a:pPr>
            <a:r>
              <a:t>(1,1)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1627632"/>
            <a:ext cx="1664208" cy="960120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1828800"/>
            <a:ext cx="148132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Noto Sans CJK SC"/>
              </a:defRPr>
            </a:pPr>
            <a:r>
              <a:t>CPU0 / L1 / L2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Noto Sans CJK SC"/>
              </a:defRPr>
            </a:pPr>
            <a:r>
              <a:t>RNF0 · 0x00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31136" y="2112264"/>
            <a:ext cx="649224" cy="0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6928" y="2999232"/>
            <a:ext cx="1664208" cy="960120"/>
          </a:xfrm>
          <a:prstGeom prst="roundRect">
            <a:avLst/>
          </a:prstGeom>
          <a:solidFill>
            <a:srgbClr val="EEE9FF"/>
          </a:solidFill>
          <a:ln w="10160">
            <a:solidFill>
              <a:srgbClr val="7B6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200400"/>
            <a:ext cx="148132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B61D1"/>
                </a:solidFill>
                <a:latin typeface="Noto Sans CJK SC"/>
              </a:defRPr>
            </a:pPr>
            <a:r>
              <a:t>CPU1 / L1 / L2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B61D1"/>
                </a:solidFill>
                <a:latin typeface="Noto Sans CJK SC"/>
              </a:defRPr>
            </a:pPr>
            <a:r>
              <a:t>RNF1 · 0x04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31136" y="3474720"/>
            <a:ext cx="347472" cy="0"/>
          </a:xfrm>
          <a:prstGeom prst="line">
            <a:avLst/>
          </a:prstGeom>
          <a:ln w="25400">
            <a:solidFill>
              <a:srgbClr val="7B6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78608" y="2359152"/>
            <a:ext cx="0" cy="1115568"/>
          </a:xfrm>
          <a:prstGeom prst="line">
            <a:avLst/>
          </a:prstGeom>
          <a:ln w="25400">
            <a:solidFill>
              <a:srgbClr val="7B6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578608" y="2359152"/>
            <a:ext cx="301752" cy="0"/>
          </a:xfrm>
          <a:prstGeom prst="line">
            <a:avLst/>
          </a:prstGeom>
          <a:ln w="25400">
            <a:solidFill>
              <a:srgbClr val="7B6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72600" y="1627632"/>
            <a:ext cx="1993392" cy="896112"/>
          </a:xfrm>
          <a:prstGeom prst="roundRect">
            <a:avLst/>
          </a:prstGeom>
          <a:solidFill>
            <a:srgbClr val="E2F6EC"/>
          </a:solidFill>
          <a:ln w="10160">
            <a:solidFill>
              <a:srgbClr val="2FA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8048" y="1901952"/>
            <a:ext cx="16824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A56F"/>
                </a:solidFill>
                <a:latin typeface="Noto Sans CJK SC"/>
              </a:defRPr>
            </a:pPr>
            <a:r>
              <a:t>SN 0x80 → Memory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741664" y="2084831"/>
            <a:ext cx="630936" cy="64009"/>
          </a:xfrm>
          <a:prstGeom prst="line">
            <a:avLst/>
          </a:prstGeom>
          <a:ln w="25400">
            <a:solidFill>
              <a:srgbClr val="2FA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070848" y="4297680"/>
            <a:ext cx="2542032" cy="1261872"/>
          </a:xfrm>
          <a:prstGeom prst="roundRect">
            <a:avLst/>
          </a:prstGeom>
          <a:solidFill>
            <a:srgbClr val="FFF0DC"/>
          </a:solidFill>
          <a:ln w="10160"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3728" y="4517136"/>
            <a:ext cx="2176272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Noto Sans CJK SC"/>
              </a:defRPr>
            </a:pPr>
            <a:r>
              <a:t>共享 HNF · 0x90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Noto Sans CJK SC"/>
              </a:defRPr>
            </a:pPr>
            <a:r>
              <a:t>SLC 1 MiB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Noto Sans CJK SC"/>
              </a:defRPr>
            </a:pPr>
            <a:r>
              <a:t>1024×16×64 B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8741664" y="4956048"/>
            <a:ext cx="329184" cy="118872"/>
          </a:xfrm>
          <a:prstGeom prst="line">
            <a:avLst/>
          </a:prstGeom>
          <a:ln w="25400">
            <a:solidFill>
              <a:srgbClr val="F29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926080" y="5870448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7A91"/>
                </a:solidFill>
                <a:latin typeface="Noto Sans CJK SC"/>
              </a:defRPr>
            </a:pPr>
            <a:r>
              <a:t>Router 2 为纯中转；HNF 位于 (1,1)，汇聚两个 RNF 的共享请求。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固定 CPU / workload 映射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4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99616"/>
            <a:ext cx="5449824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99616"/>
            <a:ext cx="5449824" cy="67665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73352"/>
            <a:ext cx="1143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CPU0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09928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PID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96312"/>
            <a:ext cx="47091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F6FED"/>
                </a:solidFill>
                <a:latin typeface="Noto Sans CJK SC"/>
              </a:defRPr>
            </a:pPr>
            <a:r>
              <a:t>libquantum 0.2.4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F6FED"/>
                </a:solidFill>
                <a:latin typeface="Noto Sans CJK SC"/>
              </a:defRPr>
            </a:pPr>
            <a:r>
              <a:t>Shor 公开源码代理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584448"/>
            <a:ext cx="685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7A91"/>
                </a:solidFill>
                <a:latin typeface="Noto Sans CJK SC"/>
              </a:defRPr>
            </a:pPr>
            <a:r>
              <a:t>参数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40" y="3456432"/>
            <a:ext cx="3931920" cy="530352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3602736"/>
            <a:ext cx="35661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Aptos"/>
              </a:defRPr>
            </a:pPr>
            <a:r>
              <a:t>1397 8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4352544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4158"/>
                </a:solidFill>
                <a:latin typeface="Noto Sans CJK SC"/>
              </a:defRPr>
            </a:pPr>
            <a:r>
              <a:t>私有 L1/L2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87168" y="4480560"/>
            <a:ext cx="475488" cy="0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990088" y="4169663"/>
            <a:ext cx="2395728" cy="658368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8104" y="4370832"/>
            <a:ext cx="21396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Noto Sans CJK SC"/>
              </a:defRPr>
            </a:pPr>
            <a:r>
              <a:t>RNF0 · 0x00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266944"/>
            <a:ext cx="4709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97A91"/>
                </a:solidFill>
                <a:latin typeface="Noto Sans CJK SC"/>
              </a:defRPr>
            </a:pPr>
            <a:r>
              <a:t>映射在 LRU / Random / SRRIP 间保持不变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1499616"/>
            <a:ext cx="5449824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1499616"/>
            <a:ext cx="5449824" cy="676656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1673352"/>
            <a:ext cx="1143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CPU1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1709928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PID 101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2496312"/>
            <a:ext cx="47091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7B61D1"/>
                </a:solidFill>
                <a:latin typeface="Noto Sans CJK SC"/>
              </a:defRPr>
            </a:pPr>
            <a:r>
              <a:t>OMNeT++ 3.3.2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7B61D1"/>
                </a:solidFill>
                <a:latin typeface="Noto Sans CJK SC"/>
              </a:defRPr>
            </a:pPr>
            <a:r>
              <a:t>Token Ring 公开源码代理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3584448"/>
            <a:ext cx="685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7A91"/>
                </a:solidFill>
                <a:latin typeface="Noto Sans CJK SC"/>
              </a:defRPr>
            </a:pPr>
            <a:r>
              <a:t>参数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87768" y="3456432"/>
            <a:ext cx="3931920" cy="530352"/>
          </a:xfrm>
          <a:prstGeom prst="roundRect">
            <a:avLst/>
          </a:prstGeom>
          <a:solidFill>
            <a:srgbClr val="EE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3602736"/>
            <a:ext cx="35661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B61D1"/>
                </a:solidFill>
                <a:latin typeface="Aptos"/>
              </a:defRPr>
            </a:pPr>
            <a:r>
              <a:t>-f omnetpp.ini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4352544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4158"/>
                </a:solidFill>
                <a:latin typeface="Noto Sans CJK SC"/>
              </a:defRPr>
            </a:pPr>
            <a:r>
              <a:t>私有 L1/L2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83296" y="4480560"/>
            <a:ext cx="475488" cy="0"/>
          </a:xfrm>
          <a:prstGeom prst="line">
            <a:avLst/>
          </a:prstGeom>
          <a:ln w="25400">
            <a:solidFill>
              <a:srgbClr val="7B6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586216" y="4169663"/>
            <a:ext cx="2395728" cy="658368"/>
          </a:xfrm>
          <a:prstGeom prst="roundRect">
            <a:avLst/>
          </a:prstGeom>
          <a:solidFill>
            <a:srgbClr val="EEE9FF"/>
          </a:solidFill>
          <a:ln w="10160">
            <a:solidFill>
              <a:srgbClr val="7B6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4232" y="4370832"/>
            <a:ext cx="21396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B61D1"/>
                </a:solidFill>
                <a:latin typeface="Noto Sans CJK SC"/>
              </a:defRPr>
            </a:pPr>
            <a:r>
              <a:t>RNF1 · 0x04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5266944"/>
            <a:ext cx="4709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97A91"/>
                </a:solidFill>
                <a:latin typeface="Noto Sans CJK SC"/>
              </a:defRPr>
            </a:pPr>
            <a:r>
              <a:t>映射在 LRU / Random / SRRIP 间保持不变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这是双核混合负载，不是单程序多线程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5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2743200" cy="932688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10512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F6FED"/>
                </a:solidFill>
                <a:latin typeface="Noto Sans CJK SC"/>
              </a:defRPr>
            </a:pPr>
            <a:r>
              <a:t>独立地址空间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48840"/>
            <a:ext cx="22860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7A91"/>
                </a:solidFill>
                <a:latin typeface="Aptos"/>
              </a:defRPr>
            </a:pPr>
            <a:r>
              <a:t>CPU0 / PID100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01568" y="2093976"/>
            <a:ext cx="1261872" cy="886968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8368" y="2953512"/>
            <a:ext cx="2743200" cy="932688"/>
          </a:xfrm>
          <a:prstGeom prst="roundRect">
            <a:avLst/>
          </a:prstGeom>
          <a:solidFill>
            <a:srgbClr val="EEE9FF"/>
          </a:solidFill>
          <a:ln w="10160">
            <a:solidFill>
              <a:srgbClr val="7B6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136392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B61D1"/>
                </a:solidFill>
                <a:latin typeface="Noto Sans CJK SC"/>
              </a:defRPr>
            </a:pPr>
            <a:r>
              <a:t>独立地址空间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474720"/>
            <a:ext cx="22860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7A91"/>
                </a:solidFill>
                <a:latin typeface="Aptos"/>
              </a:defRPr>
            </a:pPr>
            <a:r>
              <a:t>CPU1 / PID101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401568" y="2980944"/>
            <a:ext cx="1261872" cy="438912"/>
          </a:xfrm>
          <a:prstGeom prst="line">
            <a:avLst/>
          </a:prstGeom>
          <a:ln w="25400">
            <a:solidFill>
              <a:srgbClr val="7B6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63440" y="2395728"/>
            <a:ext cx="288036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651760"/>
            <a:ext cx="25146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A88F"/>
                </a:solidFill>
                <a:latin typeface="Noto Sans CJK SC"/>
              </a:defRPr>
            </a:pPr>
            <a:r>
              <a:t>同一 gem5 实例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A88F"/>
                </a:solidFill>
                <a:latin typeface="Noto Sans CJK SC"/>
              </a:defRPr>
            </a:pPr>
            <a:r>
              <a:t>同一时间窗口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43800" y="2980944"/>
            <a:ext cx="1051560" cy="0"/>
          </a:xfrm>
          <a:prstGeom prst="line">
            <a:avLst/>
          </a:prstGeom>
          <a:ln w="2540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95360" y="2286000"/>
            <a:ext cx="2761488" cy="1417320"/>
          </a:xfrm>
          <a:prstGeom prst="roundRect">
            <a:avLst/>
          </a:prstGeom>
          <a:solidFill>
            <a:srgbClr val="FFF0DC"/>
          </a:solidFill>
          <a:ln w="10160"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2624328"/>
            <a:ext cx="224942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29B38"/>
                </a:solidFill>
                <a:latin typeface="Noto Sans CJK SC"/>
              </a:defRPr>
            </a:pPr>
            <a:r>
              <a:t>共享 HNF/SLC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29B38"/>
                </a:solidFill>
                <a:latin typeface="Noto Sans CJK SC"/>
              </a:defRPr>
            </a:pPr>
            <a:r>
              <a:t>发生真实竞争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17720"/>
            <a:ext cx="106984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82896"/>
            <a:ext cx="1463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95C5C"/>
                </a:solidFill>
                <a:latin typeface="Noto Sans CJK SC"/>
              </a:defRPr>
            </a:pPr>
            <a:r>
              <a:t>不允许的解释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864608"/>
            <a:ext cx="8549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04158"/>
                </a:solidFill>
                <a:latin typeface="Noto Sans CJK SC"/>
              </a:defRPr>
            </a:pPr>
            <a:r>
              <a:t>≠ 一个程序跨两核并行    ≠ 两次单核结果拼接    ≠ 策略间交换 CPU 映射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公平起点：同一严格满载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6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99616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99616"/>
            <a:ext cx="68580" cy="10607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00200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6FED"/>
                </a:solidFill>
                <a:latin typeface="Aptos"/>
              </a:defRPr>
            </a:pPr>
            <a:r>
              <a:t>1,378,457,840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75104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Checkpoint tick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249424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全局 drain 后保存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1499616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1499616"/>
            <a:ext cx="68580" cy="106070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600200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A88F"/>
                </a:solidFill>
                <a:latin typeface="Aptos"/>
              </a:defRPr>
            </a:pPr>
            <a:r>
              <a:t>16,384 / 16,384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75104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SLC valid /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49424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每 set 最大 16 valid ways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1499616"/>
            <a:ext cx="3803904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08975" y="1499616"/>
            <a:ext cx="68580" cy="1060704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1600200"/>
            <a:ext cx="35295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7B61D1"/>
                </a:solidFill>
                <a:latin typeface="Aptos"/>
              </a:defRPr>
            </a:pPr>
            <a:r>
              <a:t>[4.394M, 3.176M]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1975104"/>
            <a:ext cx="352958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CPU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4" y="2249424"/>
            <a:ext cx="3529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CPU0 / CPU1 累计指令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971800"/>
            <a:ext cx="11045952" cy="2578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255264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Noto Sans CJK SC"/>
              </a:defRPr>
            </a:pPr>
            <a:r>
              <a:t>三策略相同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675887"/>
            <a:ext cx="6035040" cy="1463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304158"/>
                </a:solidFill>
                <a:latin typeface="Noto Sans CJK SC"/>
              </a:defRPr>
            </a:pPr>
            <a:r>
              <a:t>•  gem5 binary、拓扑、时钟、内存、私有缓存、SLC/SF 内容</a:t>
            </a:r>
          </a:p>
          <a:p>
            <a:pPr>
              <a:spcAft>
                <a:spcPts val="700"/>
              </a:spcAft>
              <a:defRPr sz="1250">
                <a:solidFill>
                  <a:srgbClr val="304158"/>
                </a:solidFill>
                <a:latin typeface="Noto Sans CJK SC"/>
              </a:defRPr>
            </a:pPr>
            <a:r>
              <a:t>•  两个 ELF、参数、cwd、CPU/RNF 固定映射与进程内存状态</a:t>
            </a:r>
          </a:p>
          <a:p>
            <a:pPr>
              <a:spcAft>
                <a:spcPts val="700"/>
              </a:spcAft>
              <a:defRPr sz="1250">
                <a:solidFill>
                  <a:srgbClr val="304158"/>
                </a:solidFill>
                <a:latin typeface="Noto Sans CJK SC"/>
              </a:defRPr>
            </a:pPr>
            <a:r>
              <a:t>•  固定 2B-tick ROI、stats reset 边界与 Random seed 20260730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33488" y="3310128"/>
            <a:ext cx="3886200" cy="1673352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4383" y="3611880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97A91"/>
                </a:solidFill>
                <a:latin typeface="Noto Sans CJK SC"/>
              </a:defRPr>
            </a:pPr>
            <a:r>
              <a:t>唯一变量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3" y="4087368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A88F"/>
                </a:solidFill>
                <a:latin typeface="Aptos"/>
              </a:defRPr>
            </a:pPr>
            <a:r>
              <a:t>SLC replacement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3" y="4526280"/>
            <a:ext cx="3246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4158"/>
                </a:solidFill>
                <a:latin typeface="Aptos"/>
              </a:defRPr>
            </a:pPr>
            <a:r>
              <a:t>LRU  /  Random  /  SRRIP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Phase A Fill/Warm-up → Phase B Replacement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7 / 17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3337560"/>
            <a:ext cx="10012680" cy="0"/>
          </a:xfrm>
          <a:prstGeom prst="line">
            <a:avLst/>
          </a:prstGeom>
          <a:ln w="88900">
            <a:solidFill>
              <a:srgbClr val="DC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05840" y="3090672"/>
            <a:ext cx="493776" cy="493776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F6FED"/>
                </a:solidFill>
                <a:latin typeface="Noto Sans CJK SC"/>
              </a:defRPr>
            </a:pPr>
            <a:r>
              <a:t>冷启动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59152"/>
            <a:ext cx="18745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tick 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双进程 active</a:t>
            </a:r>
          </a:p>
        </p:txBody>
      </p:sp>
      <p:sp>
        <p:nvSpPr>
          <p:cNvPr id="12" name="Oval 11"/>
          <p:cNvSpPr/>
          <p:nvPr/>
        </p:nvSpPr>
        <p:spPr>
          <a:xfrm>
            <a:off x="3703320" y="3090672"/>
            <a:ext cx="493776" cy="493776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965960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A88F"/>
                </a:solidFill>
                <a:latin typeface="Noto Sans CJK SC"/>
              </a:defRPr>
            </a:pPr>
            <a:r>
              <a:t>第一次满载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59152"/>
            <a:ext cx="18745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1,264,513,580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[4.133M, 3.146M]</a:t>
            </a:r>
          </a:p>
        </p:txBody>
      </p:sp>
      <p:sp>
        <p:nvSpPr>
          <p:cNvPr id="15" name="Oval 14"/>
          <p:cNvSpPr/>
          <p:nvPr/>
        </p:nvSpPr>
        <p:spPr>
          <a:xfrm>
            <a:off x="6446520" y="3090672"/>
            <a:ext cx="493776" cy="493776"/>
          </a:xfrm>
          <a:prstGeom prst="ellipse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965960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B61D1"/>
                </a:solidFill>
                <a:latin typeface="Noto Sans CJK SC"/>
              </a:defRPr>
            </a:pPr>
            <a:r>
              <a:t>严格 checkpoint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359152"/>
            <a:ext cx="18745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1,378,457,840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16,384 / 16,384</a:t>
            </a:r>
          </a:p>
        </p:txBody>
      </p:sp>
      <p:sp>
        <p:nvSpPr>
          <p:cNvPr id="18" name="Oval 17"/>
          <p:cNvSpPr/>
          <p:nvPr/>
        </p:nvSpPr>
        <p:spPr>
          <a:xfrm>
            <a:off x="9345168" y="3090672"/>
            <a:ext cx="493776" cy="493776"/>
          </a:xfrm>
          <a:prstGeom prst="ellipse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42248" y="1965960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29B38"/>
                </a:solidFill>
                <a:latin typeface="Noto Sans CJK SC"/>
              </a:defRPr>
            </a:pPr>
            <a:r>
              <a:t>正式 ROI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8" y="2359152"/>
            <a:ext cx="18745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+2B ticks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reset stats 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17720"/>
            <a:ext cx="5212080" cy="960120"/>
          </a:xfrm>
          <a:prstGeom prst="roundRect">
            <a:avLst/>
          </a:prstGeom>
          <a:solidFill>
            <a:srgbClr val="DDF6F0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910328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A88F"/>
                </a:solidFill>
                <a:latin typeface="Noto Sans CJK SC"/>
              </a:defRPr>
            </a:pPr>
            <a:r>
              <a:t>Warm-up 不计入策略性能比较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4617720"/>
            <a:ext cx="5212080" cy="960120"/>
          </a:xfrm>
          <a:prstGeom prst="roundRect">
            <a:avLst/>
          </a:prstGeom>
          <a:solidFill>
            <a:srgbClr val="FFF0DC"/>
          </a:solidFill>
          <a:ln w="10160"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910328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29B38"/>
                </a:solidFill>
                <a:latin typeface="Noto Sans CJK SC"/>
              </a:defRPr>
            </a:pPr>
            <a:r>
              <a:t>ROI 内两核始终 active 且持续 replacement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三种替换策略的精确定义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8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99616"/>
            <a:ext cx="34564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99616"/>
            <a:ext cx="3456432" cy="6858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00784"/>
            <a:ext cx="29992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" y="2587752"/>
            <a:ext cx="2505456" cy="941832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889504"/>
            <a:ext cx="23042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6FED"/>
                </a:solidFill>
                <a:latin typeface="Aptos"/>
              </a:defRPr>
            </a:pPr>
            <a:r>
              <a:t>oldest  ←  recency  →  newest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858768"/>
            <a:ext cx="2724912" cy="1325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命中更新 recency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选择最久未使用有效 line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无效 way 优先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7952" y="1499616"/>
            <a:ext cx="34564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7952" y="1499616"/>
            <a:ext cx="3456432" cy="685800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700784"/>
            <a:ext cx="29992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587752"/>
            <a:ext cx="2505456" cy="941832"/>
          </a:xfrm>
          <a:prstGeom prst="round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64024" y="2889504"/>
            <a:ext cx="23042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29B38"/>
                </a:solidFill>
                <a:latin typeface="Aptos"/>
              </a:defRPr>
            </a:pPr>
            <a:r>
              <a:t>way = RNG(seed) % valid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858768"/>
            <a:ext cx="2724912" cy="1325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满组时均匀选择有效 way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固定 seed = 20260730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三次短复现逐值一致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08975" y="1499616"/>
            <a:ext cx="34564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08975" y="1499616"/>
            <a:ext cx="3456432" cy="6858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5" y="1700784"/>
            <a:ext cx="29992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2-bit SRRIP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84463" y="2587752"/>
            <a:ext cx="2505456" cy="941832"/>
          </a:xfrm>
          <a:prstGeom prst="roundRect">
            <a:avLst/>
          </a:prstGeom>
          <a:solidFill>
            <a:srgbClr val="D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8" y="2889504"/>
            <a:ext cx="23042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A88F"/>
                </a:solidFill>
                <a:latin typeface="Aptos"/>
              </a:defRPr>
            </a:pPr>
            <a:r>
              <a:t>0  ·  1  ·  2  · 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3858768"/>
            <a:ext cx="2724912" cy="1325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Hit → RRPV 0；Insert → 2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优先 RRPV 3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否则饱和老化直到有候选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6099048"/>
            <a:ext cx="6309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5C5C"/>
                </a:solidFill>
                <a:latin typeface="Noto Sans CJK SC"/>
              </a:defRPr>
            </a:pPr>
            <a:r>
              <a:t>SRRIP ≠ BRRIP / DRRIP；本实验不使用模糊的“RRIP”标签。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满载与持续替换：三策略均满足有效性条件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9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44752"/>
            <a:ext cx="68580" cy="106070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545336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A88F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20240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三策略峰值占用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194560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16,384 / 16,384 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1444752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1444752"/>
            <a:ext cx="68580" cy="10607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545336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6FED"/>
                </a:solidFill>
                <a:latin typeface="Aptos"/>
              </a:defRPr>
            </a:pPr>
            <a:r>
              <a:t>&gt; 2.81M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20240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Full SLC cycles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94560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每个策略都持续满载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1444752"/>
            <a:ext cx="3803904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08975" y="1444752"/>
            <a:ext cx="68580" cy="1060704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1545336"/>
            <a:ext cx="35295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29B38"/>
                </a:solidFill>
                <a:latin typeface="Aptos"/>
              </a:defRPr>
            </a:pPr>
            <a:r>
              <a:t>&gt; 57.9K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1920240"/>
            <a:ext cx="352958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Replacement / victim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4" y="2194560"/>
            <a:ext cx="3529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每个策略均大于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852928"/>
            <a:ext cx="534924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017520"/>
            <a:ext cx="4892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Full SLC cycles（百万）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8844" y="3515585"/>
            <a:ext cx="658368" cy="188851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3268697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2.860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5495544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8084" y="3545863"/>
            <a:ext cx="658368" cy="1858240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7648" y="3298975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2.814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7648" y="5495544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97324" y="3511296"/>
            <a:ext cx="658368" cy="189280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56888" y="326440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2.866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6888" y="5495544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2852928"/>
            <a:ext cx="5468112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3017520"/>
            <a:ext cx="5010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Total SLC victims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16496" y="3550025"/>
            <a:ext cx="658368" cy="185407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3303137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57,925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6248" y="5495544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3511296"/>
            <a:ext cx="658368" cy="1892808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5112" y="326440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59,135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5112" y="5495544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74224" y="3541479"/>
            <a:ext cx="658368" cy="186262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13976" y="3294591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58,192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13976" y="5495544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每核 IPC：Random 在当前窗口领先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10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534924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4892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CPU0 / libquantum proxy IPC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8844" y="2121736"/>
            <a:ext cx="658368" cy="3245791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7484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1.3767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084" y="2103120"/>
            <a:ext cx="658368" cy="3264408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7648" y="1856231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1.3846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764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7324" y="2110620"/>
            <a:ext cx="658368" cy="3256907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6888" y="1863732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1.3815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688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444752"/>
            <a:ext cx="5468112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609344"/>
            <a:ext cx="5010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CPU1 / OMNeT++ proxy IPC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16496" y="2385068"/>
            <a:ext cx="658368" cy="2982459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2138180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0.2045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103120"/>
            <a:ext cx="658368" cy="3264408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5112" y="1856231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0.2238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5112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74224" y="2370982"/>
            <a:ext cx="658368" cy="2996545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3976" y="2124094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0.2054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3976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6053328"/>
            <a:ext cx="9601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D95C5C"/>
                </a:solidFill>
                <a:latin typeface="Noto Sans CJK SC"/>
              </a:defRPr>
            </a:pPr>
            <a:r>
              <a:t>相对 Random：LRU -0.57% / -8.64%；SRRIP -0.23% / -8.21%（CPU0 / CPU1）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Aggregate IPC：固定共同 cycle 的系统吞吐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11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681228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6355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Aggregate IPC = (CPU0 inst + CPU1 inst) / common cycles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2684" y="2157913"/>
            <a:ext cx="658368" cy="318218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911025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1.5812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431536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89604" y="2103120"/>
            <a:ext cx="658368" cy="3236976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5328" y="1856231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1.6084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5328" y="5431536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6524" y="2146481"/>
            <a:ext cx="658368" cy="319361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2248" y="1899593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1.5869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2248" y="5431536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6096" y="1444752"/>
            <a:ext cx="3986784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6136" y="1783080"/>
            <a:ext cx="3337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Noto Sans CJK SC"/>
              </a:defRPr>
            </a:pPr>
            <a:r>
              <a:t>相对 Random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46136" y="2450592"/>
            <a:ext cx="3337560" cy="96012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2633472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596896"/>
            <a:ext cx="10241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F6FED"/>
                </a:solidFill>
                <a:latin typeface="Aptos"/>
              </a:defRPr>
            </a:pPr>
            <a:r>
              <a:t>−0.02723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4976" y="2651760"/>
            <a:ext cx="9509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5C5C"/>
                </a:solidFill>
                <a:latin typeface="Aptos"/>
              </a:defRPr>
            </a:pPr>
            <a:r>
              <a:t>−1.6927%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46136" y="3685032"/>
            <a:ext cx="3337560" cy="960120"/>
          </a:xfrm>
          <a:prstGeom prst="roundRect">
            <a:avLst/>
          </a:prstGeom>
          <a:solidFill>
            <a:srgbClr val="D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3867912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831336"/>
            <a:ext cx="10241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A88F"/>
                </a:solidFill>
                <a:latin typeface="Aptos"/>
              </a:defRPr>
            </a:pPr>
            <a:r>
              <a:t>−0.02155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4976" y="3886200"/>
            <a:ext cx="9509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5C5C"/>
                </a:solidFill>
                <a:latin typeface="Aptos"/>
              </a:defRPr>
            </a:pPr>
            <a:r>
              <a:t>−1.3396%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4983480"/>
            <a:ext cx="3337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29B38"/>
                </a:solidFill>
                <a:latin typeface="Noto Sans CJK SC"/>
              </a:defRPr>
            </a:pPr>
            <a:r>
              <a:t>Random = 1.608441（本窗口最高）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Clean / Dirty / Total victim：数量少不等于 IPC 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12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731520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19072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033"/>
                </a:solidFill>
                <a:latin typeface="Noto Sans CJK SC"/>
              </a:defRPr>
            </a:pPr>
            <a:r>
              <a:t>Victim 构成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51176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423160"/>
            <a:ext cx="547704" cy="530352"/>
          </a:xfrm>
          <a:prstGeom prst="rect">
            <a:avLst/>
          </a:prstGeom>
          <a:solidFill>
            <a:srgbClr val="2FA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6504" y="2423160"/>
            <a:ext cx="4665210" cy="530352"/>
          </a:xfrm>
          <a:prstGeom prst="rect">
            <a:avLst/>
          </a:prstGeom>
          <a:solidFill>
            <a:srgbClr val="D9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2560320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6,086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9656" y="2560320"/>
            <a:ext cx="452805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51,839 dirty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2551176"/>
            <a:ext cx="4389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57,925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7530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29B3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447288"/>
            <a:ext cx="580552" cy="530352"/>
          </a:xfrm>
          <a:prstGeom prst="rect">
            <a:avLst/>
          </a:prstGeom>
          <a:solidFill>
            <a:srgbClr val="2FA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09352" y="3447288"/>
            <a:ext cx="4741255" cy="530352"/>
          </a:xfrm>
          <a:prstGeom prst="rect">
            <a:avLst/>
          </a:prstGeom>
          <a:solidFill>
            <a:srgbClr val="D9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3584448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6,451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2504" y="3584448"/>
            <a:ext cx="4604095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52,684 dirty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3575304"/>
            <a:ext cx="4389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59,135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9943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4471416"/>
            <a:ext cx="536365" cy="530352"/>
          </a:xfrm>
          <a:prstGeom prst="rect">
            <a:avLst/>
          </a:prstGeom>
          <a:solidFill>
            <a:srgbClr val="2FA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65165" y="4471416"/>
            <a:ext cx="4700577" cy="530352"/>
          </a:xfrm>
          <a:prstGeom prst="rect">
            <a:avLst/>
          </a:prstGeom>
          <a:solidFill>
            <a:srgbClr val="D9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19" y="4608576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5,960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8317" y="4608576"/>
            <a:ext cx="4563417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52,232 dirty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4599432"/>
            <a:ext cx="4389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58,192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444752"/>
            <a:ext cx="3474720" cy="443484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6" y="1792224"/>
            <a:ext cx="2834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033"/>
                </a:solidFill>
                <a:latin typeface="Noto Sans CJK SC"/>
              </a:defRPr>
            </a:pPr>
            <a:r>
              <a:t>相对 Random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2450592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359152"/>
            <a:ext cx="1828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F6FED"/>
                </a:solidFill>
                <a:latin typeface="Aptos"/>
              </a:defRPr>
            </a:pPr>
            <a:r>
              <a:t>−1,210 victims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F6FED"/>
                </a:solidFill>
                <a:latin typeface="Aptos"/>
              </a:defRPr>
            </a:pPr>
            <a:r>
              <a:t>−2.0462%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3520440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429000"/>
            <a:ext cx="1828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A88F"/>
                </a:solidFill>
                <a:latin typeface="Aptos"/>
              </a:defRPr>
            </a:pPr>
            <a:r>
              <a:t>−943 victims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A88F"/>
                </a:solidFill>
                <a:latin typeface="Aptos"/>
              </a:defRPr>
            </a:pPr>
            <a:r>
              <a:t>−1.5947%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056" y="4773168"/>
            <a:ext cx="2834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D95C5C"/>
                </a:solidFill>
                <a:latin typeface="Noto Sans CJK SC"/>
              </a:defRPr>
            </a:pPr>
            <a:r>
              <a:t>但二者 aggregate IPC 都低于 Random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Victim-by-RNF：RNF0 是主要 requester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13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731520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76856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2057400"/>
            <a:ext cx="4693958" cy="26517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207568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F6FED"/>
                </a:solidFill>
                <a:latin typeface="Aptos"/>
              </a:defRPr>
            </a:pPr>
            <a:r>
              <a:t>51,007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2441448"/>
            <a:ext cx="636634" cy="265176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245973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7B61D1"/>
                </a:solidFill>
                <a:latin typeface="Aptos"/>
              </a:defRPr>
            </a:pPr>
            <a:r>
              <a:t>6,918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19856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29B3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3200400"/>
            <a:ext cx="4754880" cy="26517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321868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F6FED"/>
                </a:solidFill>
                <a:latin typeface="Aptos"/>
              </a:defRPr>
            </a:pPr>
            <a:r>
              <a:t>51,669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3584448"/>
            <a:ext cx="687064" cy="265176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360273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7B61D1"/>
                </a:solidFill>
                <a:latin typeface="Aptos"/>
              </a:defRPr>
            </a:pPr>
            <a:r>
              <a:t>7,466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62856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4343400"/>
            <a:ext cx="4719634" cy="26517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436168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F6FED"/>
                </a:solidFill>
                <a:latin typeface="Aptos"/>
              </a:defRPr>
            </a:pPr>
            <a:r>
              <a:t>51,286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19" y="4727448"/>
            <a:ext cx="635530" cy="265176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474573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7B61D1"/>
                </a:solidFill>
                <a:latin typeface="Aptos"/>
              </a:defRPr>
            </a:pPr>
            <a:r>
              <a:t>6,906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444752"/>
            <a:ext cx="3474720" cy="4434840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9056" y="1792224"/>
            <a:ext cx="2834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F6FED"/>
                </a:solidFill>
                <a:latin typeface="Noto Sans CJK SC"/>
              </a:defRPr>
            </a:pPr>
            <a:r>
              <a:t>归属含义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2322576"/>
            <a:ext cx="2743200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按触发 replacement 的 requester/RNF 计数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三策略 RNF0 占约 87%–88%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不是被替换 line 的原始 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4343400"/>
            <a:ext cx="256032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A88F"/>
                </a:solidFill>
                <a:latin typeface="Noto Sans CJK SC"/>
              </a:defRPr>
            </a:pPr>
            <a:r>
              <a:t>每行 RNF0 + RNF1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A88F"/>
                </a:solidFill>
                <a:latin typeface="Noto Sans CJK SC"/>
              </a:defRPr>
            </a:pPr>
            <a:r>
              <a:t>严格等于 total victim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SLC / SF 命中与占用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14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534924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4892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SLC hit rate（%）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8844" y="2103120"/>
            <a:ext cx="658368" cy="248716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56231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1.376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681727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084" y="2140729"/>
            <a:ext cx="658368" cy="2449558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7648" y="1893841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1.355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7648" y="4681727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7324" y="2258615"/>
            <a:ext cx="658368" cy="2331672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6888" y="2011727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1.290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6888" y="4681727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444752"/>
            <a:ext cx="5468112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609344"/>
            <a:ext cx="5010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SF hit rate（%）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16496" y="2213435"/>
            <a:ext cx="658368" cy="237685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1966547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2.325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681727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557785"/>
            <a:ext cx="658368" cy="2032502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5112" y="2310897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1.988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5112" y="4681727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74224" y="2103120"/>
            <a:ext cx="658368" cy="248716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3976" y="1856231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2.433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3976" y="4681727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257800"/>
            <a:ext cx="11045952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477256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7A91"/>
                </a:solidFill>
                <a:latin typeface="Noto Sans CJK SC"/>
              </a:defRPr>
            </a:pPr>
            <a:r>
              <a:t>ROI 峰值占用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9152" y="5449824"/>
            <a:ext cx="7132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72384" y="5449824"/>
            <a:ext cx="187451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16,384 / 16,384 · 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57216" y="5449824"/>
            <a:ext cx="7132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29B3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0448" y="5449824"/>
            <a:ext cx="187451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16,384 / 16,384 · 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449824"/>
            <a:ext cx="7132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68511" y="5449824"/>
            <a:ext cx="187451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16,384 / 16,384 · 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6144768"/>
            <a:ext cx="89611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97A91"/>
                </a:solidFill>
                <a:latin typeface="Noto Sans CJK SC"/>
              </a:defRPr>
            </a:pPr>
            <a:r>
              <a:t>LRU 末态 16,382 lines 是一致性失效后的瞬时小幅下降；起点和峰值仍为精确满载。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HNF 服务：Random 的排队和可见延迟更低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15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534924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4892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HNF service stalls（百万）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8844" y="2103694"/>
            <a:ext cx="658368" cy="3263833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56806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3.109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084" y="2409326"/>
            <a:ext cx="658368" cy="2958201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7648" y="216243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2.818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764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7324" y="2103120"/>
            <a:ext cx="658368" cy="326440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6888" y="1856231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3.110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688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444752"/>
            <a:ext cx="5468112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609344"/>
            <a:ext cx="5010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Accepted → visible latency（cycle）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16496" y="2105081"/>
            <a:ext cx="658368" cy="326244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1858193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10.213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183345"/>
            <a:ext cx="658368" cy="3184182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5112" y="1936457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9.968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5112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74224" y="2103120"/>
            <a:ext cx="658368" cy="326440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3976" y="1856231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10.219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3976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6053328"/>
            <a:ext cx="9235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D95C5C"/>
                </a:solidFill>
                <a:latin typeface="Noto Sans CJK SC"/>
              </a:defRPr>
            </a:pPr>
            <a:r>
              <a:t>相对 Random：LRU / SRRIP service stalls 均约 +10.3%，延迟约 +2.5%。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NoC traffic 与热点：HNF Router 始终最热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16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548640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NoC traffic score（百万 flit-events）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1704" y="2118759"/>
            <a:ext cx="658368" cy="322133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71871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6.354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431536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26664" y="2103120"/>
            <a:ext cx="658368" cy="3236976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3368" y="1856231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6.385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3368" y="5431536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1624" y="2109174"/>
            <a:ext cx="658368" cy="3230921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48328" y="1862286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6.373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8328" y="5431536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44752"/>
            <a:ext cx="530352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737360"/>
            <a:ext cx="4480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033"/>
                </a:solidFill>
                <a:latin typeface="Noto Sans CJK SC"/>
              </a:defRPr>
            </a:pPr>
            <a:r>
              <a:t>热点排序（所有策略一致）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331720"/>
            <a:ext cx="4526280" cy="512064"/>
          </a:xfrm>
          <a:prstGeom prst="round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2459736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29B38"/>
                </a:solidFill>
                <a:latin typeface="Aptos"/>
              </a:defRPr>
            </a:pPr>
            <a:r>
              <a:t>#1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441448"/>
            <a:ext cx="2450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29B38"/>
                </a:solidFill>
                <a:latin typeface="Aptos"/>
              </a:defRPr>
            </a:pPr>
            <a:r>
              <a:t>Router 3 · (1,1)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459736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29B38"/>
                </a:solidFill>
                <a:latin typeface="Noto Sans CJK SC"/>
              </a:defRPr>
            </a:pPr>
            <a:r>
              <a:t>HNF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3044952"/>
            <a:ext cx="4526280" cy="512064"/>
          </a:xfrm>
          <a:prstGeom prst="roundRect">
            <a:avLst/>
          </a:prstGeom>
          <a:solidFill>
            <a:srgbClr val="E2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317296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A56F"/>
                </a:solidFill>
                <a:latin typeface="Aptos"/>
              </a:defRPr>
            </a:pPr>
            <a:r>
              <a:t>#2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154680"/>
            <a:ext cx="2450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A56F"/>
                </a:solidFill>
                <a:latin typeface="Aptos"/>
              </a:defRPr>
            </a:pPr>
            <a:r>
              <a:t>Router 1 · (1,0)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172968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A56F"/>
                </a:solidFill>
                <a:latin typeface="Noto Sans CJK SC"/>
              </a:defRPr>
            </a:pPr>
            <a:r>
              <a:t>SN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58183"/>
            <a:ext cx="4526280" cy="512064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9712" y="3886199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6FED"/>
                </a:solidFill>
                <a:latin typeface="Aptos"/>
              </a:defRPr>
            </a:pPr>
            <a:r>
              <a:t>#3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867911"/>
            <a:ext cx="2450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6FED"/>
                </a:solidFill>
                <a:latin typeface="Aptos"/>
              </a:defRPr>
            </a:pPr>
            <a:r>
              <a:t>Router 0 · (0,0)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886199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6FED"/>
                </a:solidFill>
                <a:latin typeface="Noto Sans CJK SC"/>
              </a:defRPr>
            </a:pPr>
            <a:r>
              <a:t>双 RNF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4471416"/>
            <a:ext cx="4526280" cy="512064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9712" y="45994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7A91"/>
                </a:solidFill>
                <a:latin typeface="Aptos"/>
              </a:defRPr>
            </a:pPr>
            <a:r>
              <a:t>#4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581144"/>
            <a:ext cx="2450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7A91"/>
                </a:solidFill>
                <a:latin typeface="Aptos"/>
              </a:defRPr>
            </a:pPr>
            <a:r>
              <a:t>Router 2 · (0,1)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599431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7A91"/>
                </a:solidFill>
                <a:latin typeface="Noto Sans CJK SC"/>
              </a:defRPr>
            </a:pPr>
            <a:r>
              <a:t>Transit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5349240"/>
            <a:ext cx="41605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D95C5C"/>
                </a:solidFill>
                <a:latin typeface="Noto Sans CJK SC"/>
              </a:defRPr>
            </a:pPr>
            <a:r>
              <a:t>LRU / SRRIP 比 Random 少 0.483% / 0.187% traffic，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D95C5C"/>
                </a:solidFill>
                <a:latin typeface="Noto Sans CJK SC"/>
              </a:defRPr>
            </a:pPr>
            <a:r>
              <a:t>但没有获得更高 IPC。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5DE0CD"/>
                </a:solidFill>
                <a:latin typeface="Aptos"/>
              </a:defRPr>
            </a:pPr>
            <a:r>
              <a:t>CONCLUSION / REPRODUCE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Noto Sans CJK SC"/>
              </a:defRPr>
            </a:pPr>
            <a:r>
              <a:t>结论：本窗口中 Random 性能最好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3291840" cy="1143000"/>
          </a:xfrm>
          <a:prstGeom prst="roundRect">
            <a:avLst/>
          </a:prstGeom>
          <a:solidFill>
            <a:srgbClr val="14263F"/>
          </a:solidFill>
          <a:ln w="10160">
            <a:solidFill>
              <a:srgbClr val="304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55648"/>
            <a:ext cx="277977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29B38"/>
                </a:solidFill>
                <a:latin typeface="Aptos"/>
              </a:defRPr>
            </a:pPr>
            <a:r>
              <a:t>1.608441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31136"/>
            <a:ext cx="2779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9D5E6"/>
                </a:solidFill>
                <a:latin typeface="Aptos"/>
              </a:defRPr>
            </a:pPr>
            <a:r>
              <a:t>Random aggregate IPC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572768"/>
            <a:ext cx="3291840" cy="1143000"/>
          </a:xfrm>
          <a:prstGeom prst="roundRect">
            <a:avLst/>
          </a:prstGeom>
          <a:solidFill>
            <a:srgbClr val="14263F"/>
          </a:solidFill>
          <a:ln w="10160">
            <a:solidFill>
              <a:srgbClr val="304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55648"/>
            <a:ext cx="277977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6FED"/>
                </a:solidFill>
                <a:latin typeface="Aptos"/>
              </a:defRPr>
            </a:pPr>
            <a:r>
              <a:t>−1.6927%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31136"/>
            <a:ext cx="2779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9D5E6"/>
                </a:solidFill>
                <a:latin typeface="Aptos"/>
              </a:defRPr>
            </a:pPr>
            <a:r>
              <a:t>LRU vs Random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572768"/>
            <a:ext cx="3291840" cy="1143000"/>
          </a:xfrm>
          <a:prstGeom prst="roundRect">
            <a:avLst/>
          </a:prstGeom>
          <a:solidFill>
            <a:srgbClr val="14263F"/>
          </a:solidFill>
          <a:ln w="10160">
            <a:solidFill>
              <a:srgbClr val="304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755648"/>
            <a:ext cx="277977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A88F"/>
                </a:solidFill>
                <a:latin typeface="Aptos"/>
              </a:defRPr>
            </a:pPr>
            <a:r>
              <a:t>−1.3396%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231136"/>
            <a:ext cx="2779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9D5E6"/>
                </a:solidFill>
                <a:latin typeface="Aptos"/>
              </a:defRPr>
            </a:pPr>
            <a:r>
              <a:t>SRRIP vs Random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6812280" cy="2084831"/>
          </a:xfrm>
          <a:prstGeom prst="roundRect">
            <a:avLst/>
          </a:prstGeom>
          <a:solidFill>
            <a:srgbClr val="14263F"/>
          </a:solidFill>
          <a:ln w="10160">
            <a:solidFill>
              <a:srgbClr val="304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1234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DE0CD"/>
                </a:solidFill>
                <a:latin typeface="Noto Sans CJK SC"/>
              </a:defRPr>
            </a:pPr>
            <a:r>
              <a:t>如何解释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840480"/>
            <a:ext cx="6126480" cy="11430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E0E8F3"/>
                </a:solidFill>
                <a:latin typeface="Noto Sans CJK SC"/>
              </a:defRPr>
            </a:pPr>
            <a:r>
              <a:t>•  LRU / SRRIP victim 更少，但 HNF service stall 约高 10.3%</a:t>
            </a:r>
          </a:p>
          <a:p>
            <a:pPr>
              <a:spcAft>
                <a:spcPts val="700"/>
              </a:spcAft>
              <a:defRPr sz="1150">
                <a:solidFill>
                  <a:srgbClr val="E0E8F3"/>
                </a:solidFill>
                <a:latin typeface="Noto Sans CJK SC"/>
              </a:defRPr>
            </a:pPr>
            <a:r>
              <a:t>•  替换数、命中组合、排队与每核进展共同决定 IPC</a:t>
            </a:r>
          </a:p>
          <a:p>
            <a:pPr>
              <a:spcAft>
                <a:spcPts val="700"/>
              </a:spcAft>
              <a:defRPr sz="1150">
                <a:solidFill>
                  <a:srgbClr val="E0E8F3"/>
                </a:solidFill>
                <a:latin typeface="Noto Sans CJK SC"/>
              </a:defRPr>
            </a:pPr>
            <a:r>
              <a:t>•  结论限定于当前代理负载、拓扑、checkpoint 与 2B-tick ROI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154680"/>
            <a:ext cx="3639312" cy="2084831"/>
          </a:xfrm>
          <a:prstGeom prst="roundRect">
            <a:avLst/>
          </a:prstGeom>
          <a:solidFill>
            <a:srgbClr val="2A2030"/>
          </a:solidFill>
          <a:ln w="10160">
            <a:solidFill>
              <a:srgbClr val="6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3456432"/>
            <a:ext cx="1234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1D1"/>
                </a:solidFill>
                <a:latin typeface="Noto Sans CJK SC"/>
              </a:defRPr>
            </a:pPr>
            <a:r>
              <a:t>不可越界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3886200"/>
            <a:ext cx="2999232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D1D1"/>
                </a:solidFill>
                <a:latin typeface="Noto Sans CJK SC"/>
              </a:defRPr>
            </a:pPr>
            <a:r>
              <a:t>公开源码代理 ≠ SPEC CPU2006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D1D1"/>
                </a:solidFill>
                <a:latin typeface="Noto Sans CJK SC"/>
              </a:defRPr>
            </a:pPr>
            <a:r>
              <a:t>一次正式运行 ≠ 置信区间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D1D1"/>
                </a:solidFill>
                <a:latin typeface="Noto Sans CJK SC"/>
              </a:defRPr>
            </a:pPr>
            <a:r>
              <a:t>当前排序 ≠ 普适策略排名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97880"/>
            <a:ext cx="10652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3A3B7"/>
                </a:solidFill>
                <a:latin typeface="Aptos"/>
              </a:defRPr>
            </a:pPr>
            <a:r>
              <a:t>复现：README.md · EXPERIMENT_REPORT_ZH.md · manifest.json · analysis/*.csv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E829E"/>
                </a:solidFill>
                <a:latin typeface="Aptos"/>
              </a:defRPr>
            </a:pPr>
            <a:r>
              <a:t>public-source proxy; not SPEC CPU2006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