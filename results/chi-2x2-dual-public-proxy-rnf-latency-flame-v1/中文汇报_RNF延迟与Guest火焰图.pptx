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DE0CD"/>
                </a:solidFill>
                <a:latin typeface="Aptos"/>
              </a:defRPr>
            </a:pPr>
            <a:r>
              <a:t>GEM5 · CHI · PUBLIC-SOURCE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76809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双核 2×2 CHI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Noto Sans CJK SC"/>
              </a:defRPr>
            </a:pPr>
            <a:r>
              <a:t>共享 SLC 替换策略分析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8138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9D5E6"/>
                </a:solidFill>
                <a:latin typeface="Aptos"/>
              </a:defRPr>
            </a:pPr>
            <a:r>
              <a:t>True LRU · Fixed-seed Random · Deterministic 2-bit SRRIP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18688"/>
            <a:ext cx="8138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DE0CD"/>
                </a:solidFill>
                <a:latin typeface="Aptos"/>
              </a:defRPr>
            </a:pPr>
            <a:r>
              <a:t>Direct-PoCQ dirty victim · no persistent SLC victim buffer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078992"/>
            <a:ext cx="2560320" cy="361188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20" y="1353312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5DE0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93808" y="1581912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CPU / RNF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331720"/>
            <a:ext cx="7315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29B3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808" y="2560320"/>
            <a:ext cx="1143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共享 HNF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337560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7B61D1"/>
                </a:solidFill>
                <a:latin typeface="Aptos"/>
              </a:defRPr>
            </a:pPr>
            <a:r>
              <a:t>16,384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822191"/>
            <a:ext cx="1371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SLC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64608"/>
            <a:ext cx="7178040" cy="612648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38344"/>
            <a:ext cx="6675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1D1"/>
                </a:solidFill>
                <a:latin typeface="Noto Sans CJK SC"/>
              </a:defRPr>
            </a:pPr>
            <a:r>
              <a:t>公开源码代理负载 · 不是 SPEC CPU2006 · 所有结果均非 SPEC 分数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99632"/>
            <a:ext cx="5303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8292AA"/>
                </a:solidFill>
                <a:latin typeface="Aptos"/>
              </a:defRPr>
            </a:pPr>
            <a:r>
              <a:t>正式 ROI：2B ticks / policy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实验问题与结果口径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1328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替换策略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LRU / Random / SRRIP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81328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81328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819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56816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固定 ticks / 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31136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每核 4,597,700 cycles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81328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81328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81912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56816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共同满载 checkpoint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31136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相同 workload / memory / 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07792"/>
            <a:ext cx="6903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核心问题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6263640" cy="1417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在真实双核竞争同一 HNF/SLC 时，替换策略如何影响两核 IPC？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victim 减少是否一定转化为更高系统性能？</a:t>
            </a:r>
          </a:p>
          <a:p>
            <a:pPr>
              <a:spcAft>
                <a:spcPts val="700"/>
              </a:spcAft>
              <a:defRPr sz="1300">
                <a:solidFill>
                  <a:srgbClr val="304158"/>
                </a:solidFill>
                <a:latin typeface="Noto Sans CJK SC"/>
              </a:defRPr>
            </a:pPr>
            <a:r>
              <a:t>•  移除错误 SLC victim-buffer 后，Replay 与性能如何变化？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2907792"/>
            <a:ext cx="3913632" cy="2468880"/>
          </a:xfrm>
          <a:prstGeom prst="roundRect">
            <a:avLst/>
          </a:prstGeom>
          <a:solidFill>
            <a:srgbClr val="FCE6E6"/>
          </a:solidFill>
          <a:ln w="10160">
            <a:solidFill>
              <a:srgbClr val="F3C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318211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95C5C"/>
                </a:solidFill>
                <a:latin typeface="Noto Sans CJK SC"/>
              </a:defRPr>
            </a:pPr>
            <a:r>
              <a:t>严格分类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611880"/>
            <a:ext cx="324612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libquantum 0.2.4 与 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是公开源码代理程序。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不是 SPEC CPU2006 workload；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304158"/>
                </a:solidFill>
                <a:latin typeface="Noto Sans CJK SC"/>
              </a:defRPr>
            </a:pPr>
            <a:r>
              <a:t>任何 IPC 都不是 SPEC 分数。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2×2 Mesh：2 CPU / 2 RNF / 1 HNF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3 /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02152" y="2240279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02152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19871" y="2240279"/>
            <a:ext cx="0" cy="2834641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02152" y="5074920"/>
            <a:ext cx="4617719" cy="0"/>
          </a:xfrm>
          <a:prstGeom prst="line">
            <a:avLst/>
          </a:prstGeom>
          <a:ln w="31750">
            <a:solidFill>
              <a:srgbClr val="93A3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74519"/>
            <a:ext cx="1243584" cy="7315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Router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(0,0)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874519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96596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(1,0)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709160"/>
            <a:ext cx="1243584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7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Router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97A91"/>
                </a:solidFill>
                <a:latin typeface="Noto Sans CJK SC"/>
              </a:defRPr>
            </a:pPr>
            <a:r>
              <a:t>(0,1)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709160"/>
            <a:ext cx="1243584" cy="7315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800600"/>
            <a:ext cx="124358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Router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(1,1)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1627632"/>
            <a:ext cx="1664208" cy="96012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18288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CPU0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31136" y="2112264"/>
            <a:ext cx="649224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2999232"/>
            <a:ext cx="1664208" cy="960120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200400"/>
            <a:ext cx="14813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CPU1 / L1 / L2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31136" y="3474720"/>
            <a:ext cx="34747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78608" y="2359152"/>
            <a:ext cx="0" cy="1115568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78608" y="2359152"/>
            <a:ext cx="301752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72600" y="1627632"/>
            <a:ext cx="1993392" cy="896112"/>
          </a:xfrm>
          <a:prstGeom prst="roundRect">
            <a:avLst/>
          </a:prstGeom>
          <a:solidFill>
            <a:srgbClr val="E2F6EC"/>
          </a:solidFill>
          <a:ln w="10160">
            <a:solidFill>
              <a:srgbClr val="2FA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28048" y="1901952"/>
            <a:ext cx="168249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A56F"/>
                </a:solidFill>
                <a:latin typeface="Noto Sans CJK SC"/>
              </a:defRPr>
            </a:pPr>
            <a:r>
              <a:t>SN 0x80 → Memory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741664" y="2084831"/>
            <a:ext cx="630936" cy="64009"/>
          </a:xfrm>
          <a:prstGeom prst="line">
            <a:avLst/>
          </a:prstGeom>
          <a:ln w="25400">
            <a:solidFill>
              <a:srgbClr val="2FA5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70848" y="4297680"/>
            <a:ext cx="2542032" cy="1261872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4517136"/>
            <a:ext cx="2176272" cy="7589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共享 HNF · 0x90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SLC 1 MiB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Noto Sans CJK SC"/>
              </a:defRPr>
            </a:pPr>
            <a:r>
              <a:t>1024×16×64 B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741664" y="4956048"/>
            <a:ext cx="329184" cy="118872"/>
          </a:xfrm>
          <a:prstGeom prst="line">
            <a:avLst/>
          </a:prstGeom>
          <a:ln w="25400">
            <a:solidFill>
              <a:srgbClr val="F29B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26080" y="5870448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Router 2 为纯中转；HNF 位于 (1,1)，汇聚两个 RNF 的共享请求。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固定 CPU / workload 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4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5449824" cy="67665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libquantum 0.2.4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F6FED"/>
                </a:solidFill>
                <a:latin typeface="Noto Sans CJK SC"/>
              </a:defRPr>
            </a:pPr>
            <a:r>
              <a:t>Shor 公开源码代理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91640" y="3456432"/>
            <a:ext cx="3931920" cy="53035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1397 8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7168" y="4480560"/>
            <a:ext cx="47548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90088" y="4169663"/>
            <a:ext cx="2395728" cy="65836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8104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Noto Sans CJK SC"/>
              </a:defRPr>
            </a:pPr>
            <a:r>
              <a:t>RNF0 · 0x00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499616"/>
            <a:ext cx="5449824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499616"/>
            <a:ext cx="5449824" cy="67665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673352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CPU1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1709928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PID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2496312"/>
            <a:ext cx="47091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OMNeT++ 3.3.2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B61D1"/>
                </a:solidFill>
                <a:latin typeface="Noto Sans CJK SC"/>
              </a:defRPr>
            </a:pPr>
            <a:r>
              <a:t>Token Ring 公开源码代理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584448"/>
            <a:ext cx="685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87768" y="3456432"/>
            <a:ext cx="3931920" cy="530352"/>
          </a:xfrm>
          <a:prstGeom prst="roundRect">
            <a:avLst/>
          </a:prstGeom>
          <a:solidFill>
            <a:srgbClr val="EE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3602736"/>
            <a:ext cx="3566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Aptos"/>
              </a:defRPr>
            </a:pPr>
            <a:r>
              <a:t>-f omnetpp.ini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4352544"/>
            <a:ext cx="1508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Noto Sans CJK SC"/>
              </a:defRPr>
            </a:pPr>
            <a:r>
              <a:t>私有 L1/L2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83296" y="4480560"/>
            <a:ext cx="475488" cy="0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86216" y="4169663"/>
            <a:ext cx="2395728" cy="65836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4370832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B61D1"/>
                </a:solidFill>
                <a:latin typeface="Noto Sans CJK SC"/>
              </a:defRPr>
            </a:pPr>
            <a:r>
              <a:t>RNF1 · 0x04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526694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映射在 LRU / Random / SRRIP 间保持不变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这是双核混合负载，不是单程序多线程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5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2743200" cy="932688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独立地址空间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4884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CPU0 / PID100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2093976"/>
            <a:ext cx="1261872" cy="886968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" y="2953512"/>
            <a:ext cx="2743200" cy="932688"/>
          </a:xfrm>
          <a:prstGeom prst="roundRect">
            <a:avLst/>
          </a:prstGeom>
          <a:solidFill>
            <a:srgbClr val="EEE9FF"/>
          </a:solidFill>
          <a:ln w="10160">
            <a:solidFill>
              <a:srgbClr val="7B6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136392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独立地址空间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74720"/>
            <a:ext cx="22860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CPU1 / PID101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401568" y="2980944"/>
            <a:ext cx="1261872" cy="438912"/>
          </a:xfrm>
          <a:prstGeom prst="line">
            <a:avLst/>
          </a:prstGeom>
          <a:ln w="25400">
            <a:solidFill>
              <a:srgbClr val="7B61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0" y="2395728"/>
            <a:ext cx="288036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51760"/>
            <a:ext cx="25146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 gem5 实例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Noto Sans CJK SC"/>
              </a:defRPr>
            </a:pPr>
            <a:r>
              <a:t>同一时间窗口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980944"/>
            <a:ext cx="1051560" cy="0"/>
          </a:xfrm>
          <a:prstGeom prst="line">
            <a:avLst/>
          </a:prstGeom>
          <a:ln w="25400">
            <a:solidFill>
              <a:srgbClr val="00A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95360" y="2286000"/>
            <a:ext cx="2761488" cy="14173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2624328"/>
            <a:ext cx="2249424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共享 HNF/SLC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29B38"/>
                </a:solidFill>
                <a:latin typeface="Noto Sans CJK SC"/>
              </a:defRPr>
            </a:pPr>
            <a:r>
              <a:t>发生真实竞争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6984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82896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5C5C"/>
                </a:solidFill>
                <a:latin typeface="Noto Sans CJK SC"/>
              </a:defRPr>
            </a:pPr>
            <a:r>
              <a:t>不允许的解释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64608"/>
            <a:ext cx="8549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04158"/>
                </a:solidFill>
                <a:latin typeface="Noto Sans CJK SC"/>
              </a:defRPr>
            </a:pPr>
            <a:r>
              <a:t>≠ 一个程序跨两核并行    ≠ 两次单核结果拼接    ≠ 策略间交换 CPU 映射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公平起点：同一严格满载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6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1,378,457,840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Checkpoint tick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全局 drain 后保存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99616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99616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16,384 / 16,384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75104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SLC valid /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49424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 set 最大 16 valid ways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99616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99616"/>
            <a:ext cx="68580" cy="1060704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600200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B61D1"/>
                </a:solidFill>
                <a:latin typeface="Aptos"/>
              </a:defRPr>
            </a:pPr>
            <a:r>
              <a:t>[4.394M, 3.176M]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75104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CPU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249424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CPU0 / CPU1 累计指令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971800"/>
            <a:ext cx="11045952" cy="2578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255264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三策略相同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75887"/>
            <a:ext cx="6035040" cy="1463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gem5 binary、拓扑、时钟、内存、私有缓存、SLC/SF 内容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两个 ELF、参数、cwd、CPU/RNF 固定映射与进程内存状态</a:t>
            </a:r>
          </a:p>
          <a:p>
            <a:pPr>
              <a:spcAft>
                <a:spcPts val="700"/>
              </a:spcAft>
              <a:defRPr sz="1250">
                <a:solidFill>
                  <a:srgbClr val="304158"/>
                </a:solidFill>
                <a:latin typeface="Noto Sans CJK SC"/>
              </a:defRPr>
            </a:pPr>
            <a:r>
              <a:t>•  固定 2B-tick ROI、stats reset 边界与 Random seed 20260730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33488" y="3310128"/>
            <a:ext cx="3886200" cy="1673352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3611880"/>
            <a:ext cx="1234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97A91"/>
                </a:solidFill>
                <a:latin typeface="Noto Sans CJK SC"/>
              </a:defRPr>
            </a:pPr>
            <a:r>
              <a:t>唯一变量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408736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A88F"/>
                </a:solidFill>
                <a:latin typeface="Aptos"/>
              </a:defRPr>
            </a:pPr>
            <a:r>
              <a:t>SLC replacement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452628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04158"/>
                </a:solidFill>
                <a:latin typeface="Aptos"/>
              </a:defRPr>
            </a:pPr>
            <a:r>
              <a:t>LRU  /  Random  /  SRRIP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Phase A Fill/Warm-up → Phase B Replacement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7 /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3337560"/>
            <a:ext cx="10012680" cy="0"/>
          </a:xfrm>
          <a:prstGeom prst="line">
            <a:avLst/>
          </a:prstGeom>
          <a:ln w="889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" y="3090672"/>
            <a:ext cx="493776" cy="493776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F6FED"/>
                </a:solidFill>
                <a:latin typeface="Noto Sans CJK SC"/>
              </a:defRPr>
            </a:pPr>
            <a:r>
              <a:t>冷启动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tick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双进程 active</a:t>
            </a:r>
          </a:p>
        </p:txBody>
      </p:sp>
      <p:sp>
        <p:nvSpPr>
          <p:cNvPr id="12" name="Oval 11"/>
          <p:cNvSpPr/>
          <p:nvPr/>
        </p:nvSpPr>
        <p:spPr>
          <a:xfrm>
            <a:off x="3703320" y="3090672"/>
            <a:ext cx="493776" cy="493776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A88F"/>
                </a:solidFill>
                <a:latin typeface="Noto Sans CJK SC"/>
              </a:defRPr>
            </a:pPr>
            <a:r>
              <a:t>第一次满载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1,264,513,580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[4.133M, 3.146M]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3090672"/>
            <a:ext cx="493776" cy="493776"/>
          </a:xfrm>
          <a:prstGeom prst="ellipse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7B61D1"/>
                </a:solidFill>
                <a:latin typeface="Noto Sans CJK SC"/>
              </a:defRPr>
            </a:pPr>
            <a:r>
              <a:t>严格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1,378,457,840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16,384 / 16,384</a:t>
            </a:r>
          </a:p>
        </p:txBody>
      </p:sp>
      <p:sp>
        <p:nvSpPr>
          <p:cNvPr id="18" name="Oval 17"/>
          <p:cNvSpPr/>
          <p:nvPr/>
        </p:nvSpPr>
        <p:spPr>
          <a:xfrm>
            <a:off x="9345168" y="3090672"/>
            <a:ext cx="493776" cy="493776"/>
          </a:xfrm>
          <a:prstGeom prst="ellipse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196596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29B38"/>
                </a:solidFill>
                <a:latin typeface="Noto Sans CJK SC"/>
              </a:defRPr>
            </a:pPr>
            <a:r>
              <a:t>正式 ROI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2359152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+2B ticks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304158"/>
                </a:solidFill>
                <a:latin typeface="Noto Sans CJK SC"/>
              </a:defRPr>
            </a:pPr>
            <a:r>
              <a:t>reset stats 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5212080" cy="960120"/>
          </a:xfrm>
          <a:prstGeom prst="roundRect">
            <a:avLst/>
          </a:prstGeom>
          <a:solidFill>
            <a:srgbClr val="DDF6F0"/>
          </a:solidFill>
          <a:ln w="10160">
            <a:solidFill>
              <a:srgbClr val="00A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Warm-up 不计入策略性能比较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4617720"/>
            <a:ext cx="5212080" cy="960120"/>
          </a:xfrm>
          <a:prstGeom prst="roundRect">
            <a:avLst/>
          </a:prstGeom>
          <a:solidFill>
            <a:srgbClr val="FFF0DC"/>
          </a:solidFill>
          <a:ln w="10160">
            <a:solidFill>
              <a:srgbClr val="F29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91032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29B38"/>
                </a:solidFill>
                <a:latin typeface="Noto Sans CJK SC"/>
              </a:defRPr>
            </a:pPr>
            <a:r>
              <a:t>ROI 内两核始终 active 且持续 replacement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三种替换策略的精确定义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99616"/>
            <a:ext cx="3456432" cy="6858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" y="2587752"/>
            <a:ext cx="2505456" cy="941832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oldest  ←  recency  →  newest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命中更新 recency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选择最久未使用有效 line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无效 way 优先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499616"/>
            <a:ext cx="3456432" cy="685800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587752"/>
            <a:ext cx="2505456" cy="941832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way = RNG(seed) %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满组时均匀选择有效 way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固定 seed = 20260730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正式 ROI 与其他策略等长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8975" y="1499616"/>
            <a:ext cx="34564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5" y="1499616"/>
            <a:ext cx="3456432" cy="685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1700784"/>
            <a:ext cx="29992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2-bit SRRIP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84463" y="2587752"/>
            <a:ext cx="2505456" cy="941832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2889504"/>
            <a:ext cx="23042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0  ·  1  ·  2  · 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858768"/>
            <a:ext cx="2724912" cy="1325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Hit → RRPV 0；Insert → 2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优先 RRPV 3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否则饱和老化直到有候选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6099048"/>
            <a:ext cx="6309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5C5C"/>
                </a:solidFill>
                <a:latin typeface="Noto Sans CJK SC"/>
              </a:defRPr>
            </a:pPr>
            <a:r>
              <a:t>SRRIP ≠ BRRIP / DRRIP；本实验不使用模糊的“RRIP”标签。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满载与持续替换：三策略均满足有效性条件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9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44752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三策略峰值占用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16,384 / 16,384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87952" y="1444752"/>
            <a:ext cx="3456432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87952" y="1444752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45336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&gt; 2.81M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1821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Full SLC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318211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每个策略都持续满载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444752"/>
            <a:ext cx="3803904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08975" y="1444752"/>
            <a:ext cx="68580" cy="10607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1545336"/>
            <a:ext cx="35295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&gt; 73.0K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1920240"/>
            <a:ext cx="352958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Replacement / victim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4" y="2194560"/>
            <a:ext cx="35295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每个策略均大于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852928"/>
            <a:ext cx="53492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017520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Full SLC cycles（百万）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8844" y="3511296"/>
            <a:ext cx="658368" cy="18928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26440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2.899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8084" y="3533704"/>
            <a:ext cx="658368" cy="1870399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7648" y="3286816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2.865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764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7324" y="3523048"/>
            <a:ext cx="658368" cy="1881055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56888" y="3276160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2.881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6888" y="5495544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852928"/>
            <a:ext cx="5468112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017520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Total SLC victims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16496" y="3518194"/>
            <a:ext cx="658368" cy="1885909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271306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74,091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0" y="3544920"/>
            <a:ext cx="658368" cy="1859183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5112" y="3298032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73,041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5112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74224" y="3511296"/>
            <a:ext cx="658368" cy="18928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3976" y="326440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74,362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3976" y="5495544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每核 IPC：系统排名由两个 workload 共同决定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10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CPU0 / libquantum proxy IPC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10511"/>
            <a:ext cx="658368" cy="325701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63623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1.6060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33743"/>
            <a:ext cx="658368" cy="323378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86855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1.5946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103120"/>
            <a:ext cx="658368" cy="326440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1.6097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CPU1 / OMNeT++ proxy IPC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273109"/>
            <a:ext cx="658368" cy="309441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202622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0.4241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03120"/>
            <a:ext cx="658368" cy="326440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0.4474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264650"/>
            <a:ext cx="658368" cy="3102877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2017762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0.4252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6053328"/>
            <a:ext cx="9601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相对 Random：LRU +0.7184% / -5.2074%；SRRIP +0.9470% / -4.9482%（CPU0 / CPU1）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Aggregate IPC：固定共同 cycle 的系统吞吐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11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681228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6355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Aggregate IPC = (CPU0 inst + CPU1 inst) / common 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2684" y="2121891"/>
            <a:ext cx="658368" cy="32182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75003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2.0301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89604" y="2103120"/>
            <a:ext cx="658368" cy="323697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5328" y="1856231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2.0419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32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6524" y="2114275"/>
            <a:ext cx="658368" cy="322582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2248" y="1867387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2.0349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2248" y="5431536"/>
            <a:ext cx="202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6096" y="1444752"/>
            <a:ext cx="39867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6136" y="1783080"/>
            <a:ext cx="3337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2450592"/>
            <a:ext cx="3337560" cy="960120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63347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59689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-0.01184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4976" y="265176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-0.5799%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46136" y="3685032"/>
            <a:ext cx="3337560" cy="960120"/>
          </a:xfrm>
          <a:prstGeom prst="roundRect">
            <a:avLst/>
          </a:prstGeom>
          <a:solidFill>
            <a:srgbClr val="DD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3867912"/>
            <a:ext cx="868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31336"/>
            <a:ext cx="102412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-0.00704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3886200"/>
            <a:ext cx="95097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5C5C"/>
                </a:solidFill>
                <a:latin typeface="Aptos"/>
              </a:defRPr>
            </a:pPr>
            <a:r>
              <a:t>-0.3446%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4901184"/>
            <a:ext cx="33375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Noto Sans CJK SC"/>
              </a:defRPr>
            </a:pPr>
            <a:r>
              <a:t>Random = 2.041935（本窗口最高）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F29B38"/>
                </a:solidFill>
                <a:latin typeface="Noto Sans CJK SC"/>
              </a:defRPr>
            </a:pPr>
            <a:r>
              <a:t>host elapsed = 640.2s（并非最快）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Clean / Dirty / Total victim：同时查看 raw 与归一化率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12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19072"/>
            <a:ext cx="1828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Victim 构成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423160"/>
            <a:ext cx="627421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6221" y="2423160"/>
            <a:ext cx="4674992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560320"/>
            <a:ext cx="581701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8,767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9373" y="2560320"/>
            <a:ext cx="45378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65,324 dirty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2551176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74,091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47288"/>
            <a:ext cx="598866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27666" y="3447288"/>
            <a:ext cx="4628402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584448"/>
            <a:ext cx="55314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8,368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0818" y="3584448"/>
            <a:ext cx="449124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64,673 dirty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3575304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73,041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9432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471416"/>
            <a:ext cx="634720" cy="530352"/>
          </a:xfrm>
          <a:prstGeom prst="rect">
            <a:avLst/>
          </a:prstGeom>
          <a:solidFill>
            <a:srgbClr val="2FA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3520" y="4471416"/>
            <a:ext cx="4687087" cy="530352"/>
          </a:xfrm>
          <a:prstGeom prst="rect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608576"/>
            <a:ext cx="5890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8,869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36672" y="4608576"/>
            <a:ext cx="454992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65,493 dirty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4599432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74,362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相对 Random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2450592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359152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+1,050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F6FED"/>
                </a:solidFill>
                <a:latin typeface="Aptos"/>
              </a:defRPr>
            </a:pPr>
            <a:r>
              <a:t>+1.4375%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520440"/>
            <a:ext cx="731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429000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+1,321 victims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A88F"/>
                </a:solidFill>
                <a:latin typeface="Aptos"/>
              </a:defRPr>
            </a:pPr>
            <a:r>
              <a:t>+1.8086%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4773168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D95C5C"/>
                </a:solidFill>
                <a:latin typeface="Noto Sans CJK SC"/>
              </a:defRPr>
            </a:pPr>
            <a:r>
              <a:t>固定时间内的 raw victim 仍需按指令数归一化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Victim-by-RNF：RNF0 是主要 requester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13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731520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057400"/>
            <a:ext cx="4737778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075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63,165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441448"/>
            <a:ext cx="819519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459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10,926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4699525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3218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62,655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584448"/>
            <a:ext cx="779016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602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10,386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343400"/>
            <a:ext cx="4754880" cy="26517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4361688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2F6FED"/>
                </a:solidFill>
                <a:latin typeface="Aptos"/>
              </a:defRPr>
            </a:pPr>
            <a:r>
              <a:t>63,393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4727448"/>
            <a:ext cx="822745" cy="265176"/>
          </a:xfrm>
          <a:prstGeom prst="rect">
            <a:avLst/>
          </a:prstGeom>
          <a:solidFill>
            <a:srgbClr val="7B61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47457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B61D1"/>
                </a:solidFill>
                <a:latin typeface="Aptos"/>
              </a:defRPr>
            </a:pPr>
            <a:r>
              <a:t>10,969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444752"/>
            <a:ext cx="3474720" cy="443484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1792224"/>
            <a:ext cx="2834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F6FED"/>
                </a:solidFill>
                <a:latin typeface="Noto Sans CJK SC"/>
              </a:defRPr>
            </a:pPr>
            <a:r>
              <a:t>归属含义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322576"/>
            <a:ext cx="2743200" cy="1508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按触发 replacement 的 requester/RNF 计数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三策略 RNF0 占 85.2%–85.8%</a:t>
            </a:r>
          </a:p>
          <a:p>
            <a:pPr>
              <a:spcAft>
                <a:spcPts val="700"/>
              </a:spcAft>
              <a:defRPr sz="1150">
                <a:solidFill>
                  <a:srgbClr val="304158"/>
                </a:solidFill>
                <a:latin typeface="Noto Sans CJK SC"/>
              </a:defRPr>
            </a:pPr>
            <a:r>
              <a:t>•  不是被替换 line 的原始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4343400"/>
            <a:ext cx="256032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每行 RNF0 + RNF1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A88F"/>
                </a:solidFill>
                <a:latin typeface="Noto Sans CJK SC"/>
              </a:defRPr>
            </a:pPr>
            <a:r>
              <a:t>严格等于 total victim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SLC / SF 命中与占用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14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SLC hit rate（%）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3018943"/>
            <a:ext cx="658368" cy="157134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772055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1.621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103120"/>
            <a:ext cx="658368" cy="2487168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2.566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998764"/>
            <a:ext cx="658368" cy="1591523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2751876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1.642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4681727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SF hit rate（%）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103120"/>
            <a:ext cx="658368" cy="24871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1.449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318241"/>
            <a:ext cx="658368" cy="2272046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2071353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1.324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76641"/>
            <a:ext cx="658368" cy="241364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929753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1.407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4681727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57800"/>
            <a:ext cx="11045952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477256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Noto Sans CJK SC"/>
              </a:defRPr>
            </a:pPr>
            <a:r>
              <a:t>ROI 峰值占用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0448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449824"/>
            <a:ext cx="7132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1" y="5449824"/>
            <a:ext cx="187451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304158"/>
                </a:solidFill>
                <a:latin typeface="Aptos"/>
              </a:defRPr>
            </a:pPr>
            <a:r>
              <a:t>16,384 / 16,384 ·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6144768"/>
            <a:ext cx="896112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97A91"/>
                </a:solidFill>
                <a:latin typeface="Noto Sans CJK SC"/>
              </a:defRPr>
            </a:pPr>
            <a:r>
              <a:t>ROI 末态有效行：LRU 16,384 / Random 16,384 / SRRIP 16,384；三策略起点和峰值均为精确满载。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HNF 压力：移除不存在的 SLC victim-buffer 阻塞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15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34924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Terminal Replay / 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8844" y="2103120"/>
            <a:ext cx="658368" cy="32644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56231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2.370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2485690"/>
            <a:ext cx="658368" cy="2881837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7648" y="2238802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2.093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764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97324" y="2316900"/>
            <a:ext cx="658368" cy="3050627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6888" y="2070012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2.215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6888" y="5458968"/>
            <a:ext cx="1539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44752"/>
            <a:ext cx="5468112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09344"/>
            <a:ext cx="5010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HNF service stalls / KI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16496" y="2103120"/>
            <a:ext cx="658368" cy="32644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856231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26.559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24223"/>
            <a:ext cx="658368" cy="32433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5112" y="1877335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26.388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5112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74224" y="2129967"/>
            <a:ext cx="658368" cy="323756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3976" y="1883079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26.341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3976" y="5458968"/>
            <a:ext cx="157886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6053328"/>
            <a:ext cx="9784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LRU / Random / SRRIP 的 victimBufferFullReplays 全部为 0；旧模型 Replay/KI 均下降约 95%。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DUAL-CORE CHI / GEM5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NoC traffic 与热点：HNF Router 始终最热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16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48640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09344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033"/>
                </a:solidFill>
                <a:latin typeface="Noto Sans CJK SC"/>
              </a:defRPr>
            </a:pPr>
            <a:r>
              <a:t>NoC traffic score（百万 flit-events）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1704" y="2111694"/>
            <a:ext cx="658368" cy="3228401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86480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7.078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26664" y="2134188"/>
            <a:ext cx="658368" cy="3205907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3368" y="1887300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7.029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336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1624" y="2103120"/>
            <a:ext cx="658368" cy="32369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8328" y="1856231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7.097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8328" y="5431536"/>
            <a:ext cx="1584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304158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44752"/>
            <a:ext cx="530352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480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热点排序（所有策略一致）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331720"/>
            <a:ext cx="4526280" cy="512064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245973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Aptos"/>
              </a:defRPr>
            </a:pPr>
            <a:r>
              <a:t>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441448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29B38"/>
                </a:solidFill>
                <a:latin typeface="Aptos"/>
              </a:defRPr>
            </a:pPr>
            <a:r>
              <a:t>Router 3 · (1,1)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459736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29B38"/>
                </a:solidFill>
                <a:latin typeface="Noto Sans CJK SC"/>
              </a:defRPr>
            </a:pPr>
            <a:r>
              <a:t>HNF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044952"/>
            <a:ext cx="4526280" cy="512064"/>
          </a:xfrm>
          <a:prstGeom prst="roundRect">
            <a:avLst/>
          </a:prstGeom>
          <a:solidFill>
            <a:srgbClr val="E2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17296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Aptos"/>
              </a:defRPr>
            </a:pPr>
            <a: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154680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A56F"/>
                </a:solidFill>
                <a:latin typeface="Aptos"/>
              </a:defRPr>
            </a:pPr>
            <a:r>
              <a:t>Router 1 · (1,0)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72968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A56F"/>
                </a:solidFill>
                <a:latin typeface="Noto Sans CJK SC"/>
              </a:defRPr>
            </a:pPr>
            <a:r>
              <a:t>SN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58183"/>
            <a:ext cx="4526280" cy="512064"/>
          </a:xfrm>
          <a:prstGeom prst="roundRect">
            <a:avLst/>
          </a:prstGeom>
          <a:solidFill>
            <a:srgbClr val="E8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3886199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Aptos"/>
              </a:defRPr>
            </a:pPr>
            <a: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67911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F6FED"/>
                </a:solidFill>
                <a:latin typeface="Aptos"/>
              </a:defRPr>
            </a:pPr>
            <a:r>
              <a:t>Router 0 · (0,0)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886199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F6FED"/>
                </a:solidFill>
                <a:latin typeface="Noto Sans CJK SC"/>
              </a:defRPr>
            </a:pPr>
            <a:r>
              <a:t>双 RNF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471416"/>
            <a:ext cx="4526280" cy="512064"/>
          </a:xfrm>
          <a:prstGeom prst="round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599431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Aptos"/>
              </a:defRPr>
            </a:pPr>
            <a:r>
              <a:t>#4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81144"/>
            <a:ext cx="24505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7A91"/>
                </a:solidFill>
                <a:latin typeface="Aptos"/>
              </a:defRPr>
            </a:pPr>
            <a:r>
              <a:t>Router 2 · (0,1)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599431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7A91"/>
                </a:solidFill>
                <a:latin typeface="Noto Sans CJK SC"/>
              </a:defRPr>
            </a:pPr>
            <a:r>
              <a:t>Transit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349240"/>
            <a:ext cx="4160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LRU / SRRIP 相对 Random traffic：+0.7016% / +0.9691%；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D95C5C"/>
                </a:solidFill>
                <a:latin typeface="Noto Sans CJK SC"/>
              </a:defRPr>
            </a:pPr>
            <a:r>
              <a:t>Random 的 traffic 最低。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5DE0CD"/>
                </a:solidFill>
                <a:latin typeface="Aptos"/>
              </a:defRPr>
            </a:pPr>
            <a:r>
              <a:t>CONCLUSION / 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98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Noto Sans CJK SC"/>
              </a:defRPr>
            </a:pPr>
            <a:r>
              <a:t>结论：本窗口中 Random aggregate IPC 最高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2.041935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Random aggregate IPC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-0.5799%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LRU vs Random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72768"/>
            <a:ext cx="3291840" cy="1143000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55648"/>
            <a:ext cx="27797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-0.3446%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231136"/>
            <a:ext cx="2779776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9D5E6"/>
                </a:solidFill>
                <a:latin typeface="Aptos"/>
              </a:defRPr>
            </a:pPr>
            <a:r>
              <a:t>SRRIP vs Random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6812280" cy="2084831"/>
          </a:xfrm>
          <a:prstGeom prst="roundRect">
            <a:avLst/>
          </a:prstGeom>
          <a:solidFill>
            <a:srgbClr val="14263F"/>
          </a:solidFill>
          <a:ln w="10160">
            <a:solidFill>
              <a:srgbClr val="3047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DE0CD"/>
                </a:solidFill>
                <a:latin typeface="Noto Sans CJK SC"/>
              </a:defRPr>
            </a:pPr>
            <a:r>
              <a:t>如何解释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40480"/>
            <a:ext cx="6126480" cy="12344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三策略 victimBufferFullReplays 均为 0；旧模型人为瓶颈已移除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相对旧模型 IPC 提升 26.95%–28.39%；Replay/KI 约下降 95%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Random 的 CPU1 进展、SLC hit、Replay 与 traffic 组合更有利</a:t>
            </a:r>
          </a:p>
          <a:p>
            <a:pPr>
              <a:spcAft>
                <a:spcPts val="700"/>
              </a:spcAft>
              <a:defRPr sz="1060">
                <a:solidFill>
                  <a:srgbClr val="E0E8F3"/>
                </a:solidFill>
                <a:latin typeface="Noto Sans CJK SC"/>
              </a:defRPr>
            </a:pPr>
            <a:r>
              <a:t>•  结论限定于当前代理负载、拓扑、checkpoint 与 2B-tick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154680"/>
            <a:ext cx="3639312" cy="2084831"/>
          </a:xfrm>
          <a:prstGeom prst="roundRect">
            <a:avLst/>
          </a:prstGeom>
          <a:solidFill>
            <a:srgbClr val="2A2030"/>
          </a:solidFill>
          <a:ln w="10160">
            <a:solidFill>
              <a:srgbClr val="6B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3456432"/>
            <a:ext cx="1234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1D1"/>
                </a:solidFill>
                <a:latin typeface="Noto Sans CJK SC"/>
              </a:defRPr>
            </a:pPr>
            <a:r>
              <a:t>不可越界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886200"/>
            <a:ext cx="2999232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公开源码代理 ≠ SPEC CPU2006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一次正式运行 ≠ 置信区间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D1D1"/>
                </a:solidFill>
                <a:latin typeface="Noto Sans CJK SC"/>
              </a:defRPr>
            </a:pPr>
            <a:r>
              <a:t>当前排序 ≠ 普适策略排名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652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3A3B7"/>
                </a:solidFill>
                <a:latin typeface="Aptos"/>
              </a:defRPr>
            </a:pPr>
            <a:r>
              <a:t>复现：README.md · EXPERIMENT_REPORT_ZH.md · manifest.json · analysis/*.csv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E829E"/>
                </a:solidFill>
                <a:latin typeface="Aptos"/>
              </a:defRPr>
            </a:pPr>
            <a:r>
              <a:t>public-source proxy; not SPEC CPU2006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RNF LATENCY / EXACT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RNF transaction latency：精确边界与 ID 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6576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73352"/>
            <a:ext cx="914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063240" cy="35204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158"/>
                </a:solidFill>
                <a:latin typeface="Noto Sans CJK SC"/>
              </a:defRPr>
            </a:pPr>
            <a:r>
              <a:t>•  REQ：RNF 成功注入 → 同 SrcID + TxnID 的 terminal RSP/DAT 并 retire</a:t>
            </a:r>
          </a:p>
          <a:p>
            <a:pPr>
              <a:spcAft>
                <a:spcPts val="700"/>
              </a:spcAft>
              <a:defRPr sz="1220">
                <a:solidFill>
                  <a:srgbClr val="304158"/>
                </a:solidFill>
                <a:latin typeface="Noto Sans CJK SC"/>
              </a:defRPr>
            </a:pPr>
            <a:r>
              <a:t>•  SNP：RNF 接受 TXSNP → 同 wire TxnID 的最终 SnpResp/Data 注入</a:t>
            </a:r>
          </a:p>
          <a:p>
            <a:pPr>
              <a:spcAft>
                <a:spcPts val="700"/>
              </a:spcAft>
              <a:defRPr sz="1220">
                <a:solidFill>
                  <a:srgbClr val="304158"/>
                </a:solidFill>
                <a:latin typeface="Noto Sans CJK SC"/>
              </a:defRPr>
            </a:pPr>
            <a:r>
              <a:t>•  ROI 末 outstanding 记为 censored，不进入 mean/P50/P95</a:t>
            </a:r>
          </a:p>
          <a:p>
            <a:pPr>
              <a:spcAft>
                <a:spcPts val="700"/>
              </a:spcAft>
              <a:defRPr sz="1220">
                <a:solidFill>
                  <a:srgbClr val="304158"/>
                </a:solidFill>
                <a:latin typeface="Noto Sans CJK SC"/>
              </a:defRPr>
            </a:pPr>
            <a:r>
              <a:t>•  type 名称直接来自正式 ReqOp/SnpOp/RspOp/DatOp 枚举</a:t>
            </a:r>
          </a:p>
          <a:p>
            <a:pPr>
              <a:spcAft>
                <a:spcPts val="700"/>
              </a:spcAft>
              <a:defRPr sz="1220">
                <a:solidFill>
                  <a:srgbClr val="304158"/>
                </a:solidFill>
                <a:latin typeface="Noto Sans CJK SC"/>
              </a:defRPr>
            </a:pPr>
            <a:r>
              <a:t>•  weighted mean = Σ(count_type × mean_type) / Σcount_type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426464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RNF0 / CPU0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47088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47088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47672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195.49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22576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LRU · weighted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9689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n=153,665 · P95=555.0 cyc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054096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vs Random -0.65%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47088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847088"/>
            <a:ext cx="68580" cy="10607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1947672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196.76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322576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Random · weighted cycles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59689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n=152,576 · P95=563.0 cyc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054096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vs Random +0.00%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847088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847088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1947672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194.93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2322576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SRRIP · weighted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596896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n=154,082 · P95=552.0 cyc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3054096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vs Random -0.93%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694176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033"/>
                </a:solidFill>
                <a:latin typeface="Noto Sans CJK SC"/>
              </a:defRPr>
            </a:pPr>
            <a:r>
              <a:t>RNF1 / CPU1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114800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4114800"/>
            <a:ext cx="68580" cy="106070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7448" y="4215384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F6FED"/>
                </a:solidFill>
                <a:latin typeface="Aptos"/>
              </a:defRPr>
            </a:pPr>
            <a:r>
              <a:t>189.28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590288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LRU · weighted cycles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486460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n=24,605 · P95=556.0 cyc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872" y="5321808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F6FED"/>
                </a:solidFill>
                <a:latin typeface="Aptos"/>
              </a:defRPr>
            </a:pPr>
            <a:r>
              <a:t>vs Random +2.42%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114800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4114800"/>
            <a:ext cx="68580" cy="1060704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4215384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29B38"/>
                </a:solidFill>
                <a:latin typeface="Aptos"/>
              </a:defRPr>
            </a:pPr>
            <a:r>
              <a:t>184.82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4590288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Random · weighted cycles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486460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n=25,141 · P95=558.0 cyc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5321808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29B38"/>
                </a:solidFill>
                <a:latin typeface="Aptos"/>
              </a:defRPr>
            </a:pPr>
            <a:r>
              <a:t>vs Random +0.00%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4114800"/>
            <a:ext cx="205740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89720" y="4114800"/>
            <a:ext cx="68580" cy="1060704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8" y="4215384"/>
            <a:ext cx="1783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A88F"/>
                </a:solidFill>
                <a:latin typeface="Aptos"/>
              </a:defRPr>
            </a:pPr>
            <a:r>
              <a:t>188.49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4590288"/>
            <a:ext cx="17830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72033"/>
                </a:solidFill>
                <a:latin typeface="Noto Sans CJK SC"/>
              </a:defRPr>
            </a:pPr>
            <a:r>
              <a:t>SRRIP · weighted cycles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4864608"/>
            <a:ext cx="1783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n=24,641 · P95=550.0 cyc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4312" y="5321808"/>
            <a:ext cx="17373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A88F"/>
                </a:solidFill>
                <a:latin typeface="Aptos"/>
              </a:defRPr>
            </a:pPr>
            <a:r>
              <a:t>vs Random +1.99%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925312"/>
            <a:ext cx="699516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97A91"/>
                </a:solidFill>
                <a:latin typeface="Noto Sans CJK SC"/>
              </a:defRPr>
            </a:pPr>
            <a:r>
              <a:t>ticks、CHI cycles 与 ns 均从 raw trace 的 clock period / simFreq 换算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RNF LATENCY / TYPE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RNF0 / RNF1：按正式 CHI type 的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19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376672" cy="4901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nf0_transaction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0902"/>
            <a:ext cx="5102352" cy="30614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34456"/>
            <a:ext cx="4892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柱=mean · 菱形=P50 · 红线=P95 · n=completed transaction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89888"/>
            <a:ext cx="5376672" cy="4901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nf1_transaction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90902"/>
            <a:ext cx="5102352" cy="30614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5934456"/>
            <a:ext cx="4892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697A91"/>
                </a:solidFill>
                <a:latin typeface="Noto Sans CJK SC"/>
              </a:defRPr>
            </a:pPr>
            <a:r>
              <a:t>柱=mean · 菱形=P50 · 红线=P95 · n=completed transaction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GUEST ROI SHADOW CALL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CPU0 / libquantum：Function/PC profile（非调用栈）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20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73152" cy="144475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63040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92224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7,384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PC profile</a:t>
            </a:r>
          </a:p>
        </p:txBody>
      </p:sp>
      <p:pic>
        <p:nvPicPr>
          <p:cNvPr id="12" name="Picture 11" descr="libquantum-l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538650"/>
            <a:ext cx="9528048" cy="103749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2962656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73152" cy="1444752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072384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401568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7,332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PC profile</a:t>
            </a:r>
          </a:p>
        </p:txBody>
      </p:sp>
      <p:pic>
        <p:nvPicPr>
          <p:cNvPr id="17" name="Picture 16" descr="libquantum-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3147994"/>
            <a:ext cx="9528048" cy="103749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4572000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572000"/>
            <a:ext cx="73152" cy="1444752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681728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010912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7,401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PC profile</a:t>
            </a:r>
          </a:p>
        </p:txBody>
      </p:sp>
      <p:pic>
        <p:nvPicPr>
          <p:cNvPr id="22" name="Picture 21" descr="libquantum-sr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4757338"/>
            <a:ext cx="9528048" cy="103749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" y="6254496"/>
            <a:ext cx="10835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697A91"/>
                </a:solidFill>
                <a:latin typeface="Noto Sans CJK SC"/>
              </a:defRPr>
            </a:pPr>
            <a:r>
              <a:t>CPU0 三策略均为 quantum_gate1 100%；ROI 内无 call，故明确标为 PC/function profile。不是 host gem5 profile。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GUEST ROI SHADOW CALL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CPU1 / OMNeT++：Guest shadow-call-stack flame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21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53312"/>
            <a:ext cx="73152" cy="144475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63040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F6FED"/>
                </a:solidFill>
                <a:latin typeface="Aptos"/>
              </a:defRPr>
            </a:pPr>
            <a:r>
              <a:t>LRU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92224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1,924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call-stack</a:t>
            </a:r>
          </a:p>
        </p:txBody>
      </p:sp>
      <p:pic>
        <p:nvPicPr>
          <p:cNvPr id="12" name="Picture 11" descr="omnetpp-l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087" y="1426464"/>
            <a:ext cx="4692912" cy="12618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2962656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962656"/>
            <a:ext cx="73152" cy="1444752"/>
          </a:xfrm>
          <a:prstGeom prst="rect">
            <a:avLst/>
          </a:prstGeom>
          <a:solidFill>
            <a:srgbClr val="F29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072384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29B38"/>
                </a:solidFill>
                <a:latin typeface="Aptos"/>
              </a:defRPr>
            </a:pPr>
            <a:r>
              <a:t>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401568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2,030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call-stack</a:t>
            </a:r>
          </a:p>
        </p:txBody>
      </p:sp>
      <p:pic>
        <p:nvPicPr>
          <p:cNvPr id="17" name="Picture 16" descr="omnetpp-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87" y="3035808"/>
            <a:ext cx="4692912" cy="126187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4572000"/>
            <a:ext cx="110185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572000"/>
            <a:ext cx="73152" cy="1444752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681728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A88F"/>
                </a:solidFill>
                <a:latin typeface="Aptos"/>
              </a:defRPr>
            </a:pPr>
            <a:r>
              <a:t>SRRIP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010912"/>
            <a:ext cx="105156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1,929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unresolved leaf 0.00%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7A91"/>
                </a:solidFill>
                <a:latin typeface="Aptos"/>
              </a:defRPr>
            </a:pPr>
            <a:r>
              <a:t>call-stack</a:t>
            </a:r>
          </a:p>
        </p:txBody>
      </p:sp>
      <p:pic>
        <p:nvPicPr>
          <p:cNvPr id="22" name="Picture 21" descr="omnetpp-sr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087" y="4645152"/>
            <a:ext cx="4692912" cy="12618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" y="6254496"/>
            <a:ext cx="10835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60" b="0">
                <a:solidFill>
                  <a:srgbClr val="697A91"/>
                </a:solidFill>
                <a:latin typeface="Noto Sans CJK SC"/>
              </a:defRPr>
            </a:pPr>
            <a:r>
              <a:t>热点显示模块 build/connect + C++ exception unwind；该 ROI 尚非稳态 token-passing loop。checkpoint 前祖先栈不可恢复；不是 host profile。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4206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00A88F"/>
                </a:solidFill>
                <a:latin typeface="Aptos"/>
              </a:defRPr>
            </a:pPr>
            <a:r>
              <a:t>SYNTHESIS / VALIDATION /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57784"/>
            <a:ext cx="10515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Noto Sans CJK SC"/>
              </a:defRPr>
            </a:pPr>
            <a:r>
              <a:t>综合解读、边界与复现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46888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A88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43000"/>
            <a:ext cx="530352" cy="41148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37960"/>
            <a:ext cx="457200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97A91"/>
                </a:solidFill>
                <a:latin typeface="Noto Sans CJK SC"/>
              </a:defRPr>
            </a:pPr>
            <a:r>
              <a:t>公开源码代理 · 非 SPEC CPU2006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537960"/>
            <a:ext cx="60350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97A91"/>
                </a:solidFill>
                <a:latin typeface="Aptos"/>
              </a:defRPr>
            </a:pPr>
            <a:r>
              <a:t>22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3456432" cy="4535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如何对应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2889504" cy="35204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flame graph：guest 指令热点与 ROI 内调用路径</a:t>
            </a:r>
          </a:p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IPC / MPKI / memory-stall：同一窗口的执行与存储压力</a:t>
            </a:r>
          </a:p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RNF latency：按 CHI type 的协议处理时延</a:t>
            </a:r>
          </a:p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CPU0：最高 IPC SRRIP；最低 RNF latency SRRIP</a:t>
            </a:r>
          </a:p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CPU1：最高 IPC Random；最低 RNF latency Random</a:t>
            </a:r>
          </a:p>
          <a:p>
            <a:pPr>
              <a:spcAft>
                <a:spcPts val="700"/>
              </a:spcAft>
              <a:defRPr sz="1019">
                <a:solidFill>
                  <a:srgbClr val="304158"/>
                </a:solidFill>
                <a:latin typeface="Noto Sans CJK SC"/>
              </a:defRPr>
            </a:pPr>
            <a:r>
              <a:t>•  三策略、单 checkpoint 只支持对应关系，不宣称因果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389888"/>
            <a:ext cx="3456432" cy="45354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Noto Sans CJK SC"/>
              </a:defRPr>
            </a:pPr>
            <a:r>
              <a:t>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057400"/>
            <a:ext cx="2889504" cy="34015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30">
                <a:solidFill>
                  <a:srgbClr val="304158"/>
                </a:solidFill>
                <a:latin typeface="Noto Sans CJK SC"/>
              </a:defRPr>
            </a:pPr>
            <a:r>
              <a:t>•  同一严格满载 checkpoint；三组 ROI 都是 2B ticks</a:t>
            </a:r>
          </a:p>
          <a:p>
            <a:pPr>
              <a:spcAft>
                <a:spcPts val="700"/>
              </a:spcAft>
              <a:defRPr sz="1130">
                <a:solidFill>
                  <a:srgbClr val="304158"/>
                </a:solidFill>
                <a:latin typeface="Noto Sans CJK SC"/>
              </a:defRPr>
            </a:pPr>
            <a:r>
              <a:t>•  ROI 末两个 CPU active；私有 L1/L2 配置 hash 相同</a:t>
            </a:r>
          </a:p>
          <a:p>
            <a:pPr>
              <a:spcAft>
                <a:spcPts val="700"/>
              </a:spcAft>
              <a:defRPr sz="1130">
                <a:solidFill>
                  <a:srgbClr val="304158"/>
                </a:solidFill>
                <a:latin typeface="Noto Sans CJK SC"/>
              </a:defRPr>
            </a:pPr>
            <a:r>
              <a:t>•  SLC victim 守恒；victimBufferFullReplays = 0</a:t>
            </a:r>
          </a:p>
          <a:p>
            <a:pPr>
              <a:spcAft>
                <a:spcPts val="700"/>
              </a:spcAft>
              <a:defRPr sz="1130">
                <a:solidFill>
                  <a:srgbClr val="304158"/>
                </a:solidFill>
                <a:latin typeface="Noto Sans CJK SC"/>
              </a:defRPr>
            </a:pPr>
            <a:r>
              <a:t>•  CHI/HNF/SLC：284 / 284 tests passed</a:t>
            </a:r>
          </a:p>
          <a:p>
            <a:pPr>
              <a:spcAft>
                <a:spcPts val="700"/>
              </a:spcAft>
              <a:defRPr sz="1130">
                <a:solidFill>
                  <a:srgbClr val="304158"/>
                </a:solidFill>
                <a:latin typeface="Noto Sans CJK SC"/>
              </a:defRPr>
            </a:pPr>
            <a:r>
              <a:t>•  input / ELF / gem5 / config / scripts 均有 SHA-256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1389888"/>
            <a:ext cx="3675887" cy="4535424"/>
          </a:xfrm>
          <a:prstGeom prst="round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交付物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57400"/>
            <a:ext cx="3063240" cy="32461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700"/>
              </a:spcAft>
              <a:defRPr sz="1120">
                <a:solidFill>
                  <a:srgbClr val="DCE7F6"/>
                </a:solidFill>
                <a:latin typeface="Noto Sans CJK SC"/>
              </a:defRPr>
            </a:pPr>
            <a:r>
              <a:t>•  EXPERIMENT_REPORT_ZH.md</a:t>
            </a:r>
          </a:p>
          <a:p>
            <a:pPr>
              <a:spcAft>
                <a:spcPts val="700"/>
              </a:spcAft>
              <a:defRPr sz="1120">
                <a:solidFill>
                  <a:srgbClr val="DCE7F6"/>
                </a:solidFill>
                <a:latin typeface="Noto Sans CJK SC"/>
              </a:defRPr>
            </a:pPr>
            <a:r>
              <a:t>•  analysis/summary.json + policy_comparison.csv</a:t>
            </a:r>
          </a:p>
          <a:p>
            <a:pPr>
              <a:spcAft>
                <a:spcPts val="700"/>
              </a:spcAft>
              <a:defRPr sz="1120">
                <a:solidFill>
                  <a:srgbClr val="DCE7F6"/>
                </a:solidFill>
                <a:latin typeface="Noto Sans CJK SC"/>
              </a:defRPr>
            </a:pPr>
            <a:r>
              <a:t>•  RNF raw / CSV / JSON / PNG / SVG</a:t>
            </a:r>
          </a:p>
          <a:p>
            <a:pPr>
              <a:spcAft>
                <a:spcPts val="700"/>
              </a:spcAft>
              <a:defRPr sz="1120">
                <a:solidFill>
                  <a:srgbClr val="DCE7F6"/>
                </a:solidFill>
                <a:latin typeface="Noto Sans CJK SC"/>
              </a:defRPr>
            </a:pPr>
            <a:r>
              <a:t>•  guest raw / folded / symbols / SVG</a:t>
            </a:r>
          </a:p>
          <a:p>
            <a:pPr>
              <a:spcAft>
                <a:spcPts val="700"/>
              </a:spcAft>
              <a:defRPr sz="1120">
                <a:solidFill>
                  <a:srgbClr val="DCE7F6"/>
                </a:solidFill>
                <a:latin typeface="Noto Sans CJK SC"/>
              </a:defRPr>
            </a:pPr>
            <a:r>
              <a:t>•  validation_summary.json + SHA-256 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90488"/>
            <a:ext cx="10881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19" b="1">
                <a:solidFill>
                  <a:srgbClr val="00A88F"/>
                </a:solidFill>
                <a:latin typeface="Aptos"/>
              </a:defRPr>
            </a:pPr>
            <a:r>
              <a:t>/home/makenma/project/xs-gem5/GEM5/results/chi-2x2-dual-public-proxy-rnf-latency-flame-v1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