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Pseudo-random</c:v>
                </c:pt>
              </c:strCache>
            </c:strRef>
          </c:tx>
          <c:spPr>
            <a:solidFill>
              <a:srgbClr val="7B61D1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libquantum</c:v>
                </c:pt>
                <c:pt idx="1">
                  <c:v>omnetpp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2.287361</c:v>
                </c:pt>
                <c:pt idx="1">
                  <c:v>2.233796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LRU</c:v>
                </c:pt>
              </c:strCache>
            </c:strRef>
          </c:tx>
          <c:spPr>
            <a:solidFill>
              <a:srgbClr val="00A88F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libquantum</c:v>
                </c:pt>
                <c:pt idx="1">
                  <c:v>omnetpp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2.287361</c:v>
                </c:pt>
                <c:pt idx="1">
                  <c:v>2.233796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2880360" cy="292608"/>
          </a:xfrm>
          <a:prstGeom prst="roundRect">
            <a:avLst/>
          </a:prstGeom>
          <a:solidFill>
            <a:srgbClr val="1C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4E5D2"/>
                </a:solidFill>
                <a:latin typeface="Microsoft YaHei"/>
              </a:defRPr>
            </a:pPr>
            <a:r>
              <a:t>GEM5 · CHI · PUBLIC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81381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6×4 NoC 与 HN-F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SLC 替换策略性能分析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944368"/>
            <a:ext cx="6858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FEBDC"/>
                </a:solidFill>
                <a:latin typeface="Aptos"/>
              </a:defRPr>
            </a:pPr>
            <a:r>
              <a:t>Pseudo-random vs. LRU（命令行兼容 lsu）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93008"/>
            <a:ext cx="79552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4DEEC"/>
                </a:solidFill>
                <a:latin typeface="Microsoft YaHei"/>
              </a:defRPr>
            </a:pPr>
            <a:r>
              <a:t>架构 · 建模方法 · 流水打拍 · 性能差异 · 流量热点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005072"/>
            <a:ext cx="7040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C878"/>
                </a:solidFill>
                <a:latin typeface="Microsoft YaHei"/>
              </a:defRPr>
            </a:pPr>
            <a:r>
              <a:t>公开源码代理负载；非 SPEC CPU2006 合规结果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4407408"/>
            <a:ext cx="7635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FC0D4"/>
                </a:solidFill>
                <a:latin typeface="Microsoft YaHei"/>
              </a:defRPr>
            </a:pPr>
            <a:r>
              <a:t>Public open-source SPEC-like proxy workloads; not SPEC CPU2006 binaries, runs, or reportable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45167" y="3739896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81160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2288" y="3621024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20655" y="3739896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56648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37776" y="3621024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96143" y="3739896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32136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13263" y="3621024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71632" y="3739896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07624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88752" y="3621024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47119" y="3739896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83112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64240" y="3621024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58600" y="2980944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539728" y="3621024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5167" y="2898648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62288" y="2779776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0655" y="2898648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37776" y="2779776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96143" y="2898648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32136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13263" y="2779776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71632" y="2898648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07624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88752" y="2779776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47119" y="2898648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183112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064240" y="2779776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658600" y="2139696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539728" y="2779776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45167" y="2057400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81160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62288" y="1938528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0655" y="2057400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56648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37776" y="1938528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96143" y="2057400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32136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113263" y="1938528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771632" y="2057400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07624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588752" y="1938528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247119" y="2057400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83112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1064240" y="1938528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658600" y="1298448"/>
            <a:ext cx="22860" cy="64008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539728" y="1938528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45167" y="1216152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62288" y="1097280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20655" y="1216152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637776" y="1097280"/>
            <a:ext cx="246888" cy="246888"/>
          </a:xfrm>
          <a:prstGeom prst="roundRect">
            <a:avLst/>
          </a:prstGeom>
          <a:solidFill>
            <a:srgbClr val="00A88F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96143" y="1216152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113263" y="1097280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71632" y="1216152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588752" y="1097280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247119" y="1216152"/>
            <a:ext cx="292608" cy="22860"/>
          </a:xfrm>
          <a:prstGeom prst="rect">
            <a:avLst/>
          </a:prstGeom>
          <a:solidFill>
            <a:srgbClr val="35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1064240" y="1097280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539728" y="1097280"/>
            <a:ext cx="246888" cy="246888"/>
          </a:xfrm>
          <a:prstGeom prst="roundRect">
            <a:avLst/>
          </a:prstGeom>
          <a:solidFill>
            <a:srgbClr val="24405E"/>
          </a:solidFill>
          <a:ln w="10160">
            <a:solidFill>
              <a:srgbClr val="5B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25712" y="5074920"/>
            <a:ext cx="25146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5D5E8"/>
                </a:solidFill>
                <a:latin typeface="Aptos"/>
              </a:defRPr>
            </a:pPr>
            <a:r>
              <a:t>24 ROUTERS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5D5E8"/>
                </a:solidFill>
                <a:latin typeface="Aptos"/>
              </a:defRPr>
            </a:pPr>
            <a:r>
              <a:t>16 HN-Fs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5D5E8"/>
                </a:solidFill>
                <a:latin typeface="Aptos"/>
              </a:defRPr>
            </a:pPr>
            <a:r>
              <a:t>48-bit PA HASH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" y="6163056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194AD"/>
                </a:solidFill>
                <a:latin typeface="Aptos"/>
              </a:defRPr>
            </a:pPr>
            <a:r>
              <a:t>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结论先行：同一模型、同一公开源码执行，仅替换策略变化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57860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64008" cy="1097280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82495"/>
            <a:ext cx="23042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A56F"/>
                </a:solidFill>
                <a:latin typeface="Aptos"/>
              </a:defRPr>
            </a:pPr>
            <a:r>
              <a:t>+0.00%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66543"/>
            <a:ext cx="23042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libquantum · LRU 相对伪随机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6758C"/>
                </a:solidFill>
                <a:latin typeface="Microsoft YaHei"/>
              </a:defRPr>
            </a:pPr>
            <a:r>
              <a:t>IPC 2.2874 → 2.2874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572768"/>
            <a:ext cx="257860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296" y="1572768"/>
            <a:ext cx="64008" cy="1097280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682495"/>
            <a:ext cx="23042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A56F"/>
                </a:solidFill>
                <a:latin typeface="Aptos"/>
              </a:defRPr>
            </a:pPr>
            <a:r>
              <a:t>+0.00%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066543"/>
            <a:ext cx="23042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omnetpp · LRU 相对伪随机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2331720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6758C"/>
                </a:solidFill>
                <a:latin typeface="Microsoft YaHei"/>
              </a:defRPr>
            </a:pPr>
            <a:r>
              <a:t>IPC 2.2338 → 2.2338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572768"/>
            <a:ext cx="257860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1572768"/>
            <a:ext cx="64008" cy="1097280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682495"/>
            <a:ext cx="23042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A56F"/>
                </a:solidFill>
                <a:latin typeface="Aptos"/>
              </a:defRPr>
            </a:pPr>
            <a:r>
              <a:t>+0.00%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066543"/>
            <a:ext cx="23042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两 workload 几何平均（描述）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31720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6758C"/>
                </a:solidFill>
                <a:latin typeface="Microsoft YaHei"/>
              </a:defRPr>
            </a:pPr>
            <a:r>
              <a:t>每个 workload 相同固定指令区间（weight=1）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572768"/>
            <a:ext cx="230428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17152" y="1572768"/>
            <a:ext cx="64008" cy="109728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82495"/>
            <a:ext cx="202996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0.020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066543"/>
            <a:ext cx="20299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最大 HNF 流量 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31720"/>
            <a:ext cx="20299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6758C"/>
                </a:solidFill>
                <a:latin typeface="Microsoft YaHei"/>
              </a:defRPr>
            </a:pPr>
            <a:r>
              <a:t>0 表示完全均匀；越小越均衡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990088"/>
            <a:ext cx="5285232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24612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本轮得到什么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639312"/>
            <a:ext cx="4709160" cy="19202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6364D"/>
                </a:solidFill>
                <a:latin typeface="Microsoft YaHei"/>
              </a:defRPr>
            </a:pPr>
            <a:r>
              <a:t>•  架构：6×4 mesh、16 个 2 MiB SLC/SF HN-F、真实 SN/DDR 边界。</a:t>
            </a:r>
          </a:p>
          <a:p>
            <a:pPr>
              <a:spcAft>
                <a:spcPts val="600"/>
              </a:spcAft>
              <a:defRPr sz="1250">
                <a:solidFill>
                  <a:srgbClr val="26364D"/>
                </a:solidFill>
                <a:latin typeface="Microsoft YaHei"/>
              </a:defRPr>
            </a:pPr>
            <a:r>
              <a:t>•  分流：CMN SCG 单 bit-lane XOR，16 项 HNF target table。</a:t>
            </a:r>
          </a:p>
          <a:p>
            <a:pPr>
              <a:spcAft>
                <a:spcPts val="600"/>
              </a:spcAft>
              <a:defRPr sz="1250">
                <a:solidFill>
                  <a:srgbClr val="26364D"/>
                </a:solidFill>
                <a:latin typeface="Microsoft YaHei"/>
              </a:defRPr>
            </a:pPr>
            <a:r>
              <a:t>•  性能：两个公开源码代理负载使用相同固定指令区间。</a:t>
            </a:r>
          </a:p>
          <a:p>
            <a:pPr>
              <a:spcAft>
                <a:spcPts val="600"/>
              </a:spcAft>
              <a:defRPr sz="1250">
                <a:solidFill>
                  <a:srgbClr val="26364D"/>
                </a:solidFill>
                <a:latin typeface="Microsoft YaHei"/>
              </a:defRPr>
            </a:pPr>
            <a:r>
              <a:t>•  热点：按 Router × channel × E/S/W/N 统计 flit 与 stall。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2990088"/>
            <a:ext cx="5321808" cy="2880360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24612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对比约束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639312"/>
            <a:ext cx="4709160" cy="19202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CPU、cache、NoC、HN-F 容量与所有 latency 参数保持一致。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伪随机固定 UInt64 seed；LRU 使用 last-use stamp；SF 始终 LRU。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每个 workload 为固定 weight=1 测量区间；IPC 直接来自 stats。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所有图表来自 stats.txt；结果仅代表公开源码代理负载。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依据：analysis/summary.json；policy_comparison.csv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建模架构：图 23.2 的 Router + HN-F 子集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9616" y="4892040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144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R0_0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1056" y="4690872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1056" y="479145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99616" y="4901184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2928" y="4892040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05456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R1_0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4690872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479145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901184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206240" y="4892040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58768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R2_0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690872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79145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06240" y="4901184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59551" y="4892040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79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01183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3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R3_0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50992" y="4690872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479145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59551" y="4901184"/>
            <a:ext cx="91441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12864" y="4892040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65392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54496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R4_0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4" y="4690872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4304" y="479145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12864" y="4901184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918704" y="4096512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07808" y="4645152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47731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R5_0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99616" y="3867912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2144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1248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R0_1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91056" y="3666744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91056" y="37673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499616" y="3877056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852928" y="3867912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05456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194560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4560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R1_1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44368" y="3666744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44368" y="37673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852928" y="3877056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206240" y="3867912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58768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47872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47872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R2_1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97680" y="3666744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7673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206240" y="3877056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559551" y="3867912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12079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901183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R3_1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50992" y="3666744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50992" y="37673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559551" y="3877056"/>
            <a:ext cx="91441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912864" y="3867912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65392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254496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54496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R4_1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04304" y="3666744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04304" y="37673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912864" y="3877056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7918704" y="3072384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607808" y="3621024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07808" y="3749039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R5_1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99616" y="2843784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52144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41248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R0_2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591056" y="2642615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91056" y="27432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499616" y="2852928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852928" y="2843784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05456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2194560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94560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R1_2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44368" y="2642615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44368" y="27432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852928" y="2852928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4206240" y="2843784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858768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547872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47872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R2_2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297680" y="2642615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97680" y="27432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206240" y="2852928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5559551" y="2843784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212079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01183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901183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R3_2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50992" y="2642615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50992" y="27432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559551" y="2852928"/>
            <a:ext cx="91441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6912864" y="2843784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565392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254496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54496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R4_2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004304" y="2642615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04304" y="27432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912864" y="2852928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7918704" y="2048255"/>
            <a:ext cx="32004" cy="548640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607808" y="2596896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07808" y="27249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R5_2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99616" y="1819656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41248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1248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R0_3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52928" y="1819656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2194560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94560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R1_3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944368" y="1618488"/>
            <a:ext cx="438912" cy="420624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44368" y="171907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A88F"/>
                </a:solidFill>
                <a:latin typeface="Aptos"/>
              </a:defRPr>
            </a:pPr>
            <a:r>
              <a:t>HN-F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852928" y="1828800"/>
            <a:ext cx="91440" cy="0"/>
          </a:xfrm>
          <a:prstGeom prst="line">
            <a:avLst/>
          </a:prstGeom>
          <a:ln w="1524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4206240" y="1819656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3547872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47872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R2_3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559551" y="1819656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901183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901183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R3_3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12864" y="1819656"/>
            <a:ext cx="694944" cy="32004"/>
          </a:xfrm>
          <a:prstGeom prst="rect">
            <a:avLst/>
          </a:prstGeom>
          <a:solidFill>
            <a:srgbClr val="8FA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254496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54496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R4_3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607808" y="1572768"/>
            <a:ext cx="658368" cy="512064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607808" y="170078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R5_3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915400" y="1572768"/>
            <a:ext cx="2587752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62288" y="184708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拓扑常量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162288" y="2267712"/>
            <a:ext cx="2057400" cy="2926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24 Router / 38 条最近邻双向链路</a:t>
            </a:r>
          </a:p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16 HN-F：前三行各 5 个，顶行 (1,3) 1 个</a:t>
            </a:r>
          </a:p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HN-F 均接 P1/D0；Router 采用确定性 XY 路由</a:t>
            </a:r>
          </a:p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CPU 2.3 GHz；Router / HN-F 1.8 GHz</a:t>
            </a:r>
          </a:p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图中的 CCG、HNI、RNI、Debug、I/O 均不进入模型</a:t>
            </a:r>
          </a:p>
          <a:p>
            <a:pPr>
              <a:spcAft>
                <a:spcPts val="600"/>
              </a:spcAft>
              <a:defRPr sz="1120">
                <a:solidFill>
                  <a:srgbClr val="26364D"/>
                </a:solidFill>
                <a:latin typeface="Microsoft YaHei"/>
              </a:defRPr>
            </a:pPr>
            <a:r>
              <a:t>•  SE 代理运行：单 RN 位于 R(0,0)，SN/DDR 在 R(5,0)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依据：架构图第23.2.pdf；configs/example/noc_config/chi_6x4_hnf.py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CMN HN-F Hash：先选择 TgtID，再由 Router 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720840" cy="4480560"/>
          </a:xfrm>
          <a:prstGeom prst="roundRect">
            <a:avLst/>
          </a:prstGeom>
          <a:solidFill>
            <a:srgbClr val="10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5989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DE8F6"/>
                </a:solidFill>
                <a:latin typeface="Consolas"/>
              </a:defRPr>
            </a:pPr>
            <a:r>
              <a:t>index[0] = PA[6]  ⊕ PA[10] ⊕ PA[14] ⊕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DE8F6"/>
                </a:solidFill>
                <a:latin typeface="Consolas"/>
              </a:defRPr>
            </a:pPr>
            <a:r>
              <a:t>index[1] = PA[7]  ⊕ PA[11] ⊕ PA[15] ⊕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DE8F6"/>
                </a:solidFill>
                <a:latin typeface="Consolas"/>
              </a:defRPr>
            </a:pPr>
            <a:r>
              <a:t>index[2] = PA[8]  ⊕ PA[12] ⊕ PA[16] ⊕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DE8F6"/>
                </a:solidFill>
                <a:latin typeface="Consolas"/>
              </a:defRPr>
            </a:pPr>
            <a:r>
              <a:t>index[3] = PA[9]  ⊕ PA[13] ⊕ PA[17] ⊕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2E4D1"/>
                </a:solidFill>
                <a:latin typeface="Aptos"/>
              </a:defRPr>
            </a:pPr>
            <a:r>
              <a:t>48-bit PA masks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78224"/>
            <a:ext cx="30175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7C878"/>
                </a:solidFill>
                <a:latin typeface="Consolas"/>
              </a:defRPr>
            </a:pPr>
            <a:r>
              <a:t>0x444444444440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7C878"/>
                </a:solidFill>
                <a:latin typeface="Consolas"/>
              </a:defRPr>
            </a:pPr>
            <a:r>
              <a:t>0x888888888880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7C878"/>
                </a:solidFill>
                <a:latin typeface="Consolas"/>
              </a:defRPr>
            </a:pPr>
            <a:r>
              <a:t>0x111111111100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7C878"/>
                </a:solidFill>
                <a:latin typeface="Consolas"/>
              </a:defRPr>
            </a:pPr>
            <a:r>
              <a:t>0x222222222200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4279392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hash index → 16-entry HNF Node-ID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800600"/>
            <a:ext cx="2907792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FC1D6"/>
                </a:solidFill>
                <a:latin typeface="Microsoft YaHei"/>
              </a:defRPr>
            </a:pPr>
            <a:r>
              <a:t>连续 1024 条 cache line 的单元测试：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FC1D6"/>
                </a:solidFill>
                <a:latin typeface="Microsoft YaHei"/>
              </a:defRPr>
            </a:pPr>
            <a:r>
              <a:t>每个 HN-F 精确命中 64 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572768"/>
            <a:ext cx="3822191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874519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为何 Hash 不写进逐跳 Router？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331720"/>
            <a:ext cx="3154680" cy="2468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364D"/>
                </a:solidFill>
                <a:latin typeface="Microsoft YaHei"/>
              </a:defRPr>
            </a:pPr>
            <a:r>
              <a:t>•  CMN 的 SCG/SAM 在请求进入 NoC 前选择 HN-F target。</a:t>
            </a:r>
          </a:p>
          <a:p>
            <a:pPr>
              <a:spcAft>
                <a:spcPts val="600"/>
              </a:spcAft>
              <a:defRPr sz="1200">
                <a:solidFill>
                  <a:srgbClr val="26364D"/>
                </a:solidFill>
                <a:latin typeface="Microsoft YaHei"/>
              </a:defRPr>
            </a:pPr>
            <a:r>
              <a:t>•  Cache2ChiBridge 根据 PA 计算 index，并把对应 Node ID 写入 REQ.TgtID。</a:t>
            </a:r>
          </a:p>
          <a:p>
            <a:pPr>
              <a:spcAft>
                <a:spcPts val="600"/>
              </a:spcAft>
              <a:defRPr sz="1200">
                <a:solidFill>
                  <a:srgbClr val="26364D"/>
                </a:solidFill>
                <a:latin typeface="Microsoft YaHei"/>
              </a:defRPr>
            </a:pPr>
            <a:r>
              <a:t>•  Router 只解码 TgtID 坐标并做 XY 路由；DAT 和 CompAck 沿用事务已选 HN-F。</a:t>
            </a:r>
          </a:p>
          <a:p>
            <a:pPr>
              <a:spcAft>
                <a:spcPts val="600"/>
              </a:spcAft>
              <a:defRPr sz="1200">
                <a:solidFill>
                  <a:srgbClr val="26364D"/>
                </a:solidFill>
                <a:latin typeface="Microsoft YaHei"/>
              </a:defRPr>
            </a:pPr>
            <a:r>
              <a:t>•  这样既保持 CMN 语义，也保证一笔事务的所有 flit 身份一致。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5257800"/>
            <a:ext cx="2816352" cy="292608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52760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29B38"/>
                </a:solidFill>
                <a:latin typeface="Microsoft YaHei"/>
              </a:defRPr>
            </a:pPr>
            <a:r>
              <a:t>目标均匀 ≠ 链路无热点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依据：Arm CMN-650 TRM SCG HN-F hash；Cache2ChiBridgeData.cc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HN-F 模型：协议控制与 SLC/SF 时序解耦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417320" cy="914400"/>
          </a:xfrm>
          <a:prstGeom prst="roundRect">
            <a:avLst/>
          </a:prstGeom>
          <a:solidFill>
            <a:srgbClr val="E6EE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30552"/>
            <a:ext cx="1307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6FED"/>
                </a:solidFill>
                <a:latin typeface="Microsoft YaHei"/>
              </a:defRPr>
            </a:pPr>
            <a:r>
              <a:t>CHI Link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6FED"/>
                </a:solidFill>
                <a:latin typeface="Microsoft YaHei"/>
              </a:defRPr>
            </a:pPr>
            <a:r>
              <a:t>REQ/RSP/DAT/SNP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965960"/>
            <a:ext cx="1508760" cy="914400"/>
          </a:xfrm>
          <a:prstGeom prst="roundRect">
            <a:avLst/>
          </a:prstGeom>
          <a:solidFill>
            <a:srgbClr val="EEF2F7"/>
          </a:solidFill>
          <a:ln w="1016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130552"/>
            <a:ext cx="1399031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HomeLinkLayer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credit / retry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65960"/>
            <a:ext cx="1645920" cy="914400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130552"/>
            <a:ext cx="15361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7B61D1"/>
                </a:solidFill>
                <a:latin typeface="Microsoft YaHei"/>
              </a:defRPr>
            </a:pPr>
            <a:r>
              <a:t>HnfCoherency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7B61D1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1965960"/>
            <a:ext cx="1417320" cy="91440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130552"/>
            <a:ext cx="1307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Microsoft YaHei"/>
              </a:defRPr>
            </a:pPr>
            <a:r>
              <a:t>PoCQ / SEQ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Microsoft YaHei"/>
              </a:defRPr>
            </a:pPr>
            <a:r>
              <a:t>hazard / retire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572768"/>
            <a:ext cx="2176272" cy="1234440"/>
          </a:xfrm>
          <a:prstGeom prst="roundRect">
            <a:avLst/>
          </a:prstGeom>
          <a:solidFill>
            <a:srgbClr val="DCF7F1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737360"/>
            <a:ext cx="2066543" cy="1005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A88F"/>
                </a:solidFill>
                <a:latin typeface="Microsoft YaHei"/>
              </a:defRPr>
            </a:pPr>
            <a:r>
              <a:t>SlcSnoopFilter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A88F"/>
                </a:solidFill>
                <a:latin typeface="Microsoft YaHei"/>
              </a:defRPr>
            </a:pPr>
            <a:r>
              <a:t>child ClockedObject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3608" y="3246120"/>
            <a:ext cx="1005840" cy="960120"/>
          </a:xfrm>
          <a:prstGeom prst="roundRect">
            <a:avLst/>
          </a:prstGeom>
          <a:solidFill>
            <a:srgbClr val="E2F6EC"/>
          </a:solidFill>
          <a:ln w="10160">
            <a:solidFill>
              <a:srgbClr val="2FA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410712"/>
            <a:ext cx="896112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A56F"/>
                </a:solidFill>
                <a:latin typeface="Microsoft YaHei"/>
              </a:defRPr>
            </a:pPr>
            <a:r>
              <a:t>SLC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A56F"/>
                </a:solidFill>
                <a:latin typeface="Microsoft YaHei"/>
              </a:defRPr>
            </a:pPr>
            <a:r>
              <a:t>2 MiB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246120"/>
            <a:ext cx="1005840" cy="960120"/>
          </a:xfrm>
          <a:prstGeom prst="roundRect">
            <a:avLst/>
          </a:prstGeom>
          <a:solidFill>
            <a:srgbClr val="E6EE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4" y="3410712"/>
            <a:ext cx="896112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6FED"/>
                </a:solidFill>
                <a:latin typeface="Microsoft YaHei"/>
              </a:defRPr>
            </a:pPr>
            <a:r>
              <a:t>SF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F6FED"/>
                </a:solidFill>
                <a:latin typeface="Microsoft YaHei"/>
              </a:defRPr>
            </a:pPr>
            <a:r>
              <a:t>2 MiB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16768" y="1965960"/>
            <a:ext cx="804672" cy="914400"/>
          </a:xfrm>
          <a:prstGeom prst="roundRect">
            <a:avLst/>
          </a:prstGeom>
          <a:solidFill>
            <a:srgbClr val="EEF2F7"/>
          </a:solidFill>
          <a:ln w="1016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71632" y="2130552"/>
            <a:ext cx="694944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SN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Microsoft YaHei"/>
              </a:defRPr>
            </a:pPr>
            <a:r>
              <a:t>DDR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75688" y="2423160"/>
            <a:ext cx="411480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95928" y="2423160"/>
            <a:ext cx="411480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53328" y="2423160"/>
            <a:ext cx="411480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82127" y="2423160"/>
            <a:ext cx="411481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69880" y="2423160"/>
            <a:ext cx="246888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96528" y="2807208"/>
            <a:ext cx="0" cy="438912"/>
          </a:xfrm>
          <a:prstGeom prst="line">
            <a:avLst/>
          </a:prstGeom>
          <a:ln w="1905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66960" y="2807208"/>
            <a:ext cx="0" cy="438912"/>
          </a:xfrm>
          <a:prstGeom prst="line">
            <a:avLst/>
          </a:prstGeom>
          <a:ln w="1905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58368" y="4617720"/>
            <a:ext cx="1086307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关键协议语义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855464"/>
            <a:ext cx="87782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26364D"/>
                </a:solidFill>
                <a:latin typeface="Microsoft YaHei"/>
              </a:defRPr>
            </a:pPr>
            <a:r>
              <a:t>RetryAck / PCrdGrant · DBID / CompAck · directed/broadcast snoop · dirty victim → WriteNoSnpFull · generation token / Replay · drain/checkpoint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依据：HomeNodeFull、HnfCoherencyController、SlcSnoopFilter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Router 模型：四通道、credit 反压与可定位热点统计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029200" cy="4434840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81051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FEBDC"/>
                </a:solidFill>
                <a:latin typeface="Aptos"/>
              </a:defRPr>
            </a:pPr>
            <a:r>
              <a:t>LOCAL P0–P3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2267712"/>
            <a:ext cx="2651760" cy="1965960"/>
          </a:xfrm>
          <a:prstGeom prst="roundRect">
            <a:avLst/>
          </a:prstGeom>
          <a:solidFill>
            <a:srgbClr val="1C3451"/>
          </a:solidFill>
          <a:ln w="10160">
            <a:solidFill>
              <a:srgbClr val="4D6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596896"/>
            <a:ext cx="2048256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输入采样 / Queue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→ route decode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→ per-output arbitration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→ credit-gated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5409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05409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81051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465429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172968"/>
            <a:ext cx="704088" cy="0"/>
          </a:xfrm>
          <a:prstGeom prst="line">
            <a:avLst/>
          </a:prstGeom>
          <a:ln w="25400">
            <a:solidFill>
              <a:srgbClr val="21B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8848" y="3172968"/>
            <a:ext cx="576072" cy="0"/>
          </a:xfrm>
          <a:prstGeom prst="line">
            <a:avLst/>
          </a:prstGeom>
          <a:ln w="25400">
            <a:solidFill>
              <a:srgbClr val="21B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2121408"/>
            <a:ext cx="0" cy="146304"/>
          </a:xfrm>
          <a:prstGeom prst="line">
            <a:avLst/>
          </a:prstGeom>
          <a:ln w="25400">
            <a:solidFill>
              <a:srgbClr val="21B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72968" y="4233672"/>
            <a:ext cx="0" cy="356616"/>
          </a:xfrm>
          <a:prstGeom prst="line">
            <a:avLst/>
          </a:prstGeom>
          <a:ln w="25400">
            <a:solidFill>
              <a:srgbClr val="21B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5239512"/>
            <a:ext cx="749808" cy="292608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25780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F6FED"/>
                </a:solidFill>
                <a:latin typeface="Microsoft YaHei"/>
              </a:defRPr>
            </a:pPr>
            <a:r>
              <a:t>REQ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47088" y="5239512"/>
            <a:ext cx="749808" cy="292608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525780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7B61D1"/>
                </a:solidFill>
                <a:latin typeface="Microsoft YaHei"/>
              </a:defRPr>
            </a:pPr>
            <a:r>
              <a:t>RSP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4056" y="5239512"/>
            <a:ext cx="749808" cy="292608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525780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29B38"/>
                </a:solidFill>
                <a:latin typeface="Microsoft YaHei"/>
              </a:defRPr>
            </a:pPr>
            <a:r>
              <a:t>SNP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1024" y="5239512"/>
            <a:ext cx="749808" cy="292608"/>
          </a:xfrm>
          <a:prstGeom prst="roundRect">
            <a:avLst/>
          </a:prstGeom>
          <a:solidFill>
            <a:srgbClr val="DC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525780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Microsoft YaHei"/>
              </a:defRPr>
            </a:pPr>
            <a:r>
              <a:t>DAT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8464" y="1572768"/>
            <a:ext cx="5522976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901952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成功传输计数（exact once）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04288"/>
            <a:ext cx="4800600" cy="1417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26364D"/>
                </a:solidFill>
                <a:latin typeface="Microsoft YaHei"/>
              </a:defRPr>
            </a:pPr>
            <a:r>
              <a:t>•  localInjectedFlits / localDeliveredFlits：按 CHI channel。</a:t>
            </a:r>
          </a:p>
          <a:p>
            <a:pPr>
              <a:spcAft>
                <a:spcPts val="600"/>
              </a:spcAft>
              <a:defRPr sz="1180">
                <a:solidFill>
                  <a:srgbClr val="26364D"/>
                </a:solidFill>
                <a:latin typeface="Microsoft YaHei"/>
              </a:defRPr>
            </a:pPr>
            <a:r>
              <a:t>•  internalReceivedFlits / internalSentFlits：按 channel × E/S/W/N。</a:t>
            </a:r>
          </a:p>
          <a:p>
            <a:pPr>
              <a:spcAft>
                <a:spcPts val="600"/>
              </a:spcAft>
              <a:defRPr sz="1180">
                <a:solidFill>
                  <a:srgbClr val="26364D"/>
                </a:solidFill>
                <a:latin typeface="Microsoft YaHei"/>
              </a:defRPr>
            </a:pPr>
            <a:r>
              <a:t>•  仅在实际 dequeue/enqueue 成功处加一；retry 不重复计数。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904487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反压计数（port-direction cycles）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306824"/>
            <a:ext cx="48006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26364D"/>
                </a:solidFill>
                <a:latin typeface="Microsoft YaHei"/>
              </a:defRPr>
            </a:pPr>
            <a:r>
              <a:t>•  internalOutputStallCycles：方向链路 credit/peer backpressure。</a:t>
            </a:r>
          </a:p>
          <a:p>
            <a:pPr>
              <a:spcAft>
                <a:spcPts val="600"/>
              </a:spcAft>
              <a:defRPr sz="1180">
                <a:solidFill>
                  <a:srgbClr val="26364D"/>
                </a:solidFill>
                <a:latin typeface="Microsoft YaHei"/>
              </a:defRPr>
            </a:pPr>
            <a:r>
              <a:t>•  localInjection/DeliveryStallCycles：按 channel × P0–P3。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依据：ChiRouterRefModel::trafficStats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模型中的打拍位置与推进逻辑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1874519" cy="1024128"/>
          </a:xfrm>
          <a:prstGeom prst="roundRect">
            <a:avLst/>
          </a:prstGeom>
          <a:solidFill>
            <a:srgbClr val="E6EEFD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1691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Consolas"/>
              </a:defRPr>
            </a:pPr>
            <a:r>
              <a:t>reqIngress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6758C"/>
                </a:solidFill>
                <a:latin typeface="Microsoft YaHei"/>
              </a:defRPr>
            </a:pPr>
            <a:r>
              <a:t>N：CC 接收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7" y="2231136"/>
            <a:ext cx="301752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719072"/>
            <a:ext cx="1874519" cy="1024128"/>
          </a:xfrm>
          <a:prstGeom prst="roundRect">
            <a:avLst/>
          </a:prstGeom>
          <a:solidFill>
            <a:srgbClr val="EFECF9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901952"/>
            <a:ext cx="1691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Consolas"/>
              </a:defRPr>
            </a:pPr>
            <a:r>
              <a:t>reqReady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6771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6758C"/>
                </a:solidFill>
                <a:latin typeface="Microsoft YaHei"/>
              </a:defRPr>
            </a:pPr>
            <a:r>
              <a:t>N+1：可发射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231136"/>
            <a:ext cx="301752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1719072"/>
            <a:ext cx="1874519" cy="1024128"/>
          </a:xfrm>
          <a:prstGeom prst="roundRect">
            <a:avLst/>
          </a:prstGeom>
          <a:solidFill>
            <a:srgbClr val="FDF3E7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1" y="1901952"/>
            <a:ext cx="1691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9B38"/>
                </a:solidFill>
                <a:latin typeface="Consolas"/>
              </a:defRPr>
            </a:pPr>
            <a:r>
              <a:t>in-flight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26771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6758C"/>
                </a:solidFill>
                <a:latin typeface="Microsoft YaHei"/>
              </a:defRPr>
            </a:pPr>
            <a:r>
              <a:t>固定/附加 latency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2231136"/>
            <a:ext cx="301751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61504" y="1719072"/>
            <a:ext cx="1874519" cy="1024128"/>
          </a:xfrm>
          <a:prstGeom prst="roundRect">
            <a:avLst/>
          </a:prstGeom>
          <a:solidFill>
            <a:srgbClr val="E6F4EE"/>
          </a:solidFill>
          <a:ln w="10160">
            <a:solidFill>
              <a:srgbClr val="2FA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901952"/>
            <a:ext cx="1691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A56F"/>
                </a:solidFill>
                <a:latin typeface="Consolas"/>
              </a:defRPr>
            </a:pPr>
            <a:r>
              <a:t>respPending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226771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6758C"/>
                </a:solidFill>
                <a:latin typeface="Microsoft YaHei"/>
              </a:defRPr>
            </a:pPr>
            <a:r>
              <a:t>完成拍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36024" y="2231136"/>
            <a:ext cx="301752" cy="0"/>
          </a:xfrm>
          <a:prstGeom prst="line">
            <a:avLst/>
          </a:prstGeom>
          <a:ln w="19050">
            <a:solidFill>
              <a:srgbClr val="6675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29216" y="1719072"/>
            <a:ext cx="1874519" cy="1024128"/>
          </a:xfrm>
          <a:prstGeom prst="roundRect">
            <a:avLst/>
          </a:prstGeom>
          <a:solidFill>
            <a:srgbClr val="E0F5F2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0656" y="1901952"/>
            <a:ext cx="1691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88F"/>
                </a:solidFill>
                <a:latin typeface="Consolas"/>
              </a:defRPr>
            </a:pPr>
            <a:r>
              <a:t>respVisible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26771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6758C"/>
                </a:solidFill>
                <a:latin typeface="Microsoft YaHei"/>
              </a:defRPr>
            </a:pPr>
            <a:r>
              <a:t>下一 child edge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27248"/>
            <a:ext cx="548640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19856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child edge 内固定顺序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3858768"/>
            <a:ext cx="269748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64D"/>
                </a:solidFill>
                <a:latin typeface="Consolas"/>
              </a:defRPr>
            </a:pPr>
            <a:r>
              <a:t>① expose pending response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64D"/>
                </a:solidFill>
                <a:latin typeface="Consolas"/>
              </a:defRPr>
            </a:pPr>
            <a:r>
              <a:t>② expose ingress request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64D"/>
                </a:solidFill>
                <a:latin typeface="Consolas"/>
              </a:defRPr>
            </a:pPr>
            <a:r>
              <a:t>③ complete old in-flight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64D"/>
                </a:solidFill>
                <a:latin typeface="Consolas"/>
              </a:defRPr>
            </a:pPr>
            <a:r>
              <a:t>④ issue ready request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64D"/>
                </a:solidFill>
                <a:latin typeface="Consolas"/>
              </a:defRPr>
            </a:pPr>
            <a:r>
              <a:t>⑤ register next-cycle credit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69080"/>
            <a:ext cx="214884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A88F"/>
                </a:solidFill>
                <a:latin typeface="Microsoft YaHei"/>
              </a:defRPr>
            </a:pPr>
            <a:r>
              <a:t>不允许新 issue 在同一 wakeup 完成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A88F"/>
                </a:solidFill>
                <a:latin typeface="Microsoft YaHei"/>
              </a:defRPr>
            </a:pPr>
            <a:r>
              <a:t>因果约束：accepted &lt; issue &lt; complete &lt; visible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3127248"/>
            <a:ext cx="5102352" cy="2606040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3419856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mutation 内部寄存边界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1696" y="3977639"/>
            <a:ext cx="960120" cy="822960"/>
          </a:xfrm>
          <a:prstGeom prst="roundRect">
            <a:avLst/>
          </a:prstGeom>
          <a:solidFill>
            <a:srgbClr val="1C3652"/>
          </a:solidFill>
          <a:ln w="10160">
            <a:solidFill>
              <a:srgbClr val="48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4142232"/>
            <a:ext cx="8869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U0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decode + token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71816" y="4389120"/>
            <a:ext cx="155448" cy="0"/>
          </a:xfrm>
          <a:prstGeom prst="line">
            <a:avLst/>
          </a:prstGeom>
          <a:ln w="15240">
            <a:solidFill>
              <a:srgbClr val="70D9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854696" y="3977639"/>
            <a:ext cx="960120" cy="822960"/>
          </a:xfrm>
          <a:prstGeom prst="roundRect">
            <a:avLst/>
          </a:prstGeom>
          <a:solidFill>
            <a:srgbClr val="1C3652"/>
          </a:solidFill>
          <a:ln w="10160">
            <a:solidFill>
              <a:srgbClr val="48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1271" y="4142232"/>
            <a:ext cx="8869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U1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resource + lock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14816" y="4389120"/>
            <a:ext cx="155448" cy="0"/>
          </a:xfrm>
          <a:prstGeom prst="line">
            <a:avLst/>
          </a:prstGeom>
          <a:ln w="15240">
            <a:solidFill>
              <a:srgbClr val="70D9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97696" y="3977639"/>
            <a:ext cx="960120" cy="822960"/>
          </a:xfrm>
          <a:prstGeom prst="roundRect">
            <a:avLst/>
          </a:prstGeom>
          <a:solidFill>
            <a:srgbClr val="1C3652"/>
          </a:solidFill>
          <a:ln w="10160">
            <a:solidFill>
              <a:srgbClr val="48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4142232"/>
            <a:ext cx="8869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U2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array write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957816" y="4389120"/>
            <a:ext cx="155448" cy="0"/>
          </a:xfrm>
          <a:prstGeom prst="line">
            <a:avLst/>
          </a:prstGeom>
          <a:ln w="15240">
            <a:solidFill>
              <a:srgbClr val="70D9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40696" y="3977639"/>
            <a:ext cx="960120" cy="822960"/>
          </a:xfrm>
          <a:prstGeom prst="roundRect">
            <a:avLst/>
          </a:prstGeom>
          <a:solidFill>
            <a:srgbClr val="1C3652"/>
          </a:solidFill>
          <a:ln w="10160">
            <a:solidFill>
              <a:srgbClr val="48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77272" y="4142232"/>
            <a:ext cx="8869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U3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8F6"/>
                </a:solidFill>
                <a:latin typeface="Consolas"/>
              </a:defRPr>
            </a:pPr>
            <a:r>
              <a:t>check + latch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1696" y="5056632"/>
            <a:ext cx="4425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9FB3CA"/>
                </a:solidFill>
                <a:latin typeface="Consolas"/>
              </a:defRPr>
            </a:pPr>
            <a:r>
              <a:t>默认 child cycles：lookup 4 · fill 4 · update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9FB3CA"/>
                </a:solidFill>
                <a:latin typeface="Consolas"/>
              </a:defRPr>
            </a:pPr>
            <a:r>
              <a:t>+ dirty victim 3 · + SF evict 2 · replay 2 · init 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依据：HnfSLCSF::wakeup / advanceMutation；SlcSnoopFilter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性能方法：公开 ELF 成对运行、固定区间、同配置归因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475488" cy="47548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91056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033"/>
                </a:solidFill>
                <a:latin typeface="Microsoft YaHei"/>
              </a:defRPr>
            </a:pPr>
            <a:r>
              <a:t>固定输入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591056"/>
            <a:ext cx="3429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Microsoft YaHei"/>
              </a:defRPr>
            </a:pPr>
            <a:r>
              <a:t>静态 ELF + 参数 + source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048256"/>
            <a:ext cx="32004" cy="393192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441448"/>
            <a:ext cx="475488" cy="475488"/>
          </a:xfrm>
          <a:prstGeom prst="round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459736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033"/>
                </a:solidFill>
                <a:latin typeface="Microsoft YaHei"/>
              </a:defRPr>
            </a:pPr>
            <a:r>
              <a:t>成对运行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459736"/>
            <a:ext cx="3429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Microsoft YaHei"/>
              </a:defRPr>
            </a:pPr>
            <a:r>
              <a:t>pseudo_random(seed=固定) / LRU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916936"/>
            <a:ext cx="32004" cy="393192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310128"/>
            <a:ext cx="475488" cy="475488"/>
          </a:xfrm>
          <a:prstGeom prst="round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107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328416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033"/>
                </a:solidFill>
                <a:latin typeface="Microsoft YaHei"/>
              </a:defRPr>
            </a:pPr>
            <a:r>
              <a:t>区间采集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328416"/>
            <a:ext cx="3429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Microsoft YaHei"/>
              </a:defRPr>
            </a:pPr>
            <a:r>
              <a:t>IPC、HNF、Router、stall、latency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785616"/>
            <a:ext cx="32004" cy="393192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178807"/>
            <a:ext cx="475488" cy="475488"/>
          </a:xfrm>
          <a:prstGeom prst="round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7939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197095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033"/>
                </a:solidFill>
                <a:latin typeface="Microsoft YaHei"/>
              </a:defRPr>
            </a:pPr>
            <a:r>
              <a:t>程序级汇总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197095"/>
            <a:ext cx="3429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Microsoft YaHei"/>
              </a:defRPr>
            </a:pPr>
            <a:r>
              <a:t>fixed instruction interval, weight=1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654296"/>
            <a:ext cx="32004" cy="393192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5047488"/>
            <a:ext cx="475488" cy="475488"/>
          </a:xfrm>
          <a:prstGeom prst="round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065775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033"/>
                </a:solidFill>
                <a:latin typeface="Microsoft YaHei"/>
              </a:defRPr>
            </a:pPr>
            <a:r>
              <a:t>比较与作图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0088" y="5065775"/>
            <a:ext cx="3429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Microsoft YaHei"/>
              </a:defRPr>
            </a:pPr>
            <a:r>
              <a:t>IPC=1/CPI；输出 CSV/JSON/PPT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1572768"/>
            <a:ext cx="47091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190195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实验矩阵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49631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033"/>
                </a:solidFill>
                <a:latin typeface="Aptos"/>
              </a:defRPr>
            </a:pPr>
            <a:r>
              <a:t>libquantum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2468880"/>
            <a:ext cx="1325880" cy="292608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1" y="2487168"/>
            <a:ext cx="12710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7B61D1"/>
                </a:solidFill>
                <a:latin typeface="Microsoft YaHei"/>
              </a:defRPr>
            </a:pPr>
            <a:r>
              <a:t>pseudo_random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2952" y="2468880"/>
            <a:ext cx="1024128" cy="292608"/>
          </a:xfrm>
          <a:prstGeom prst="roundRect">
            <a:avLst/>
          </a:prstGeom>
          <a:solidFill>
            <a:srgbClr val="DC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0384" y="2487168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Microsoft YaHei"/>
              </a:defRPr>
            </a:pPr>
            <a:r>
              <a:t>LRU / lsu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93591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033"/>
                </a:solidFill>
                <a:latin typeface="Aptos"/>
              </a:defRPr>
            </a:pPr>
            <a:r>
              <a:t>omnetpp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566160"/>
            <a:ext cx="1325880" cy="292608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1" y="3584448"/>
            <a:ext cx="12710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7B61D1"/>
                </a:solidFill>
                <a:latin typeface="Microsoft YaHei"/>
              </a:defRPr>
            </a:pPr>
            <a:r>
              <a:t>pseudo_random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02952" y="3566160"/>
            <a:ext cx="1024128" cy="292608"/>
          </a:xfrm>
          <a:prstGeom prst="roundRect">
            <a:avLst/>
          </a:prstGeom>
          <a:solidFill>
            <a:srgbClr val="DC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30384" y="3584448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Microsoft YaHei"/>
              </a:defRPr>
            </a:pPr>
            <a:r>
              <a:t>LRU / lsu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4572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主要性能指标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2" y="4983480"/>
            <a:ext cx="3886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Consolas"/>
              </a:defRPr>
            </a:pPr>
            <a:r>
              <a:t>interval IPC · SLC/SF hit · victim · service stall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6364D"/>
                </a:solidFill>
                <a:latin typeface="Consolas"/>
              </a:defRPr>
            </a:pPr>
            <a:r>
              <a:t>accepted→visible latency · HNF CV · router flit/stall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依据：libquantum 0.2.4 upstream Shor proxy (fixed RNG seed)；OMNeT++ 3.3.2 public Token Ring sample proxy；非 SPEC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性能差异：公开源码代理负载测量区间 IPC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9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572768"/>
          <a:ext cx="713232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65008" y="1572768"/>
            <a:ext cx="34564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189280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策略差异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487168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033"/>
                </a:solidFill>
                <a:latin typeface="Aptos"/>
              </a:defRPr>
            </a:pPr>
            <a:r>
              <a:t>libquantum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4352" y="2414016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A56F"/>
                </a:solidFill>
                <a:latin typeface="Aptos"/>
              </a:defRPr>
            </a:pPr>
            <a:r>
              <a:t>+0.00%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07208"/>
            <a:ext cx="2606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F29B38"/>
                </a:solidFill>
                <a:latin typeface="Microsoft YaHei"/>
              </a:defRPr>
            </a:pPr>
            <a:r>
              <a:t>未触发 victim · 仅描述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84448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033"/>
                </a:solidFill>
                <a:latin typeface="Aptos"/>
              </a:defRPr>
            </a:pPr>
            <a:r>
              <a:t>omnetpp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3511296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A56F"/>
                </a:solidFill>
                <a:latin typeface="Aptos"/>
              </a:defRPr>
            </a:pPr>
            <a:r>
              <a:t>+0.00%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904487"/>
            <a:ext cx="2606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F29B38"/>
                </a:solidFill>
                <a:latin typeface="Microsoft YaHei"/>
              </a:defRPr>
            </a:pPr>
            <a:r>
              <a:t>未触发 victim · 仅描述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4718304"/>
            <a:ext cx="2871216" cy="804672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4837176"/>
            <a:ext cx="28712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几何平均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+0.00%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依据：公开源码固定指令区间；非 SPEC CPU2006；无 victim 时不做替换策略归因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替换策略归因边界：SLC 行为指标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81912"/>
            <a:ext cx="2404872" cy="56692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581912"/>
            <a:ext cx="2103120" cy="56692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201167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libquantum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伪随机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581912"/>
            <a:ext cx="2103120" cy="56692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91640"/>
            <a:ext cx="201167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libquantum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581912"/>
            <a:ext cx="2103120" cy="56692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91640"/>
            <a:ext cx="201167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omnetpp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伪随机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1581912"/>
            <a:ext cx="2148840" cy="56692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57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omnetpp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LRU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148840"/>
            <a:ext cx="2404872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295144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SLC hit（区间）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48840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229514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148840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1224" y="229514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148840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229514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2148840"/>
            <a:ext cx="214884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2295144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52344"/>
            <a:ext cx="2404872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898648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clean victim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2752344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8104" y="2898648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752344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1224" y="2898648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2752344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24344" y="2898648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2752344"/>
            <a:ext cx="214884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2898648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355848"/>
            <a:ext cx="2404872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502152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dirty victim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355848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3502152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3355848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1224" y="3502152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355848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24344" y="3502152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72600" y="3355848"/>
            <a:ext cx="214884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27464" y="3502152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3959352"/>
            <a:ext cx="2404872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4105656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service stall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3959352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18104" y="4105656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7219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3959352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1224" y="4105656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7219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3959352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24344" y="4105656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72600" y="3959352"/>
            <a:ext cx="214884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7464" y="4105656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562856"/>
            <a:ext cx="2404872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4709160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accepted→visible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4562856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18104" y="4709160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6.04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66360" y="4562856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1224" y="4709160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6.04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69480" y="4562856"/>
            <a:ext cx="210312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4709160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6.01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72600" y="4562856"/>
            <a:ext cx="2148840" cy="603504"/>
          </a:xfrm>
          <a:prstGeom prst="rect">
            <a:avLst/>
          </a:prstGeom>
          <a:solidFill>
            <a:srgbClr val="FFFFFF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27464" y="4709160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6.01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5166360"/>
            <a:ext cx="2404872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5312664"/>
            <a:ext cx="229514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033"/>
                </a:solidFill>
                <a:latin typeface="Microsoft YaHei"/>
              </a:defRPr>
            </a:pPr>
            <a:r>
              <a:t>Router flit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63240" y="5166360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18104" y="531266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1743688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66360" y="5166360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21224" y="531266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1743688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69480" y="5166360"/>
            <a:ext cx="210312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24344" y="5312664"/>
            <a:ext cx="199339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226928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72600" y="5166360"/>
            <a:ext cx="2148840" cy="603504"/>
          </a:xfrm>
          <a:prstGeom prst="rect">
            <a:avLst/>
          </a:prstGeom>
          <a:solidFill>
            <a:srgbClr val="EEF2F7"/>
          </a:solidFill>
          <a:ln w="4445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27464" y="5312664"/>
            <a:ext cx="20391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6364D"/>
                </a:solidFill>
                <a:latin typeface="Aptos"/>
              </a:defRPr>
            </a:pPr>
            <a:r>
              <a:t>226928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" y="5925312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758C"/>
                </a:solidFill>
                <a:latin typeface="Microsoft YaHei"/>
              </a:defRPr>
            </a:pPr>
            <a:r>
              <a:t>解释原则：替换算法只决定满组 victim way；invalid way 始终优先，SF 始终 LRU，其他 pipeline/容量/时钟不变。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依据：公开源码代理负载；非 SPEC CPU2006；workload_summary.csv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91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CHI HN-F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Microsoft YaHei"/>
              </a:defRPr>
            </a:pPr>
            <a:r>
              <a:t>流量热点：Router 内部发送 Flit 热力图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3968" y="27432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512064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6519672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758C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Aptos"/>
              </a:defRPr>
            </a:pPr>
            <a:r>
              <a:t>libquantum · pseudo_random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91256"/>
            <a:ext cx="612648" cy="338328"/>
          </a:xfrm>
          <a:prstGeom prst="rect">
            <a:avLst/>
          </a:prstGeom>
          <a:solidFill>
            <a:srgbClr val="D65D5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217462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2456" y="3191256"/>
            <a:ext cx="612648" cy="338328"/>
          </a:xfrm>
          <a:prstGeom prst="rect">
            <a:avLst/>
          </a:prstGeom>
          <a:solidFill>
            <a:srgbClr val="D54C4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6172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241798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6543" y="3191256"/>
            <a:ext cx="612648" cy="338328"/>
          </a:xfrm>
          <a:prstGeom prst="rect">
            <a:avLst/>
          </a:prstGeom>
          <a:solidFill>
            <a:srgbClr val="D7686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0260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R20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202116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3191256"/>
            <a:ext cx="612648" cy="338328"/>
          </a:xfrm>
          <a:prstGeom prst="rect">
            <a:avLst/>
          </a:prstGeom>
          <a:solidFill>
            <a:srgbClr val="D87B7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4348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R30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175833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191256"/>
            <a:ext cx="612648" cy="338328"/>
          </a:xfrm>
          <a:prstGeom prst="rect">
            <a:avLst/>
          </a:prstGeom>
          <a:solidFill>
            <a:srgbClr val="D98D8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8436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149568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3191256"/>
            <a:ext cx="612648" cy="338328"/>
          </a:xfrm>
          <a:prstGeom prst="rect">
            <a:avLst/>
          </a:prstGeom>
          <a:solidFill>
            <a:srgbClr val="DBA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2524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104172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79776"/>
            <a:ext cx="612648" cy="338328"/>
          </a:xfrm>
          <a:prstGeom prst="rect">
            <a:avLst/>
          </a:prstGeom>
          <a:solidFill>
            <a:srgbClr val="DAA2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120170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2456" y="2779776"/>
            <a:ext cx="612648" cy="338328"/>
          </a:xfrm>
          <a:prstGeom prst="rect">
            <a:avLst/>
          </a:prstGeom>
          <a:solidFill>
            <a:srgbClr val="DCBEB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6172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81632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6543" y="2779776"/>
            <a:ext cx="612648" cy="338328"/>
          </a:xfrm>
          <a:prstGeom prst="rect">
            <a:avLst/>
          </a:prstGeom>
          <a:solidFill>
            <a:srgbClr val="DDD0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0260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56159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2779776"/>
            <a:ext cx="612648" cy="338328"/>
          </a:xfrm>
          <a:prstGeom prst="rect">
            <a:avLst/>
          </a:prstGeom>
          <a:solidFill>
            <a:srgbClr val="DDD4D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4348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50587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779776"/>
            <a:ext cx="612648" cy="338328"/>
          </a:xfrm>
          <a:prstGeom prst="rect">
            <a:avLst/>
          </a:prstGeom>
          <a:solidFill>
            <a:srgbClr val="DDD7D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8436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45016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8808" y="2779776"/>
            <a:ext cx="612648" cy="338328"/>
          </a:xfrm>
          <a:prstGeom prst="rect">
            <a:avLst/>
          </a:prstGeom>
          <a:solidFill>
            <a:srgbClr val="DED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2524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35812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2368296"/>
            <a:ext cx="612648" cy="338328"/>
          </a:xfrm>
          <a:prstGeom prst="rect">
            <a:avLst/>
          </a:prstGeom>
          <a:solidFill>
            <a:srgbClr val="DDD0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56180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62456" y="2368296"/>
            <a:ext cx="612648" cy="338328"/>
          </a:xfrm>
          <a:prstGeom prst="rect">
            <a:avLst/>
          </a:prstGeom>
          <a:solidFill>
            <a:srgbClr val="DCCCC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6172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61726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6543" y="2368296"/>
            <a:ext cx="612648" cy="338328"/>
          </a:xfrm>
          <a:prstGeom prst="rect">
            <a:avLst/>
          </a:prstGeom>
          <a:solidFill>
            <a:srgbClr val="DEDE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0260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36234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2368296"/>
            <a:ext cx="612648" cy="338328"/>
          </a:xfrm>
          <a:prstGeom prst="rect">
            <a:avLst/>
          </a:prstGeom>
          <a:solidFill>
            <a:srgbClr val="DEE2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4348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30666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368296"/>
            <a:ext cx="612648" cy="338328"/>
          </a:xfrm>
          <a:prstGeom prst="rect">
            <a:avLst/>
          </a:prstGeom>
          <a:solidFill>
            <a:srgbClr val="DEE6E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8436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25101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8808" y="2368296"/>
            <a:ext cx="612648" cy="338328"/>
          </a:xfrm>
          <a:prstGeom prst="rect">
            <a:avLst/>
          </a:prstGeom>
          <a:solidFill>
            <a:srgbClr val="DEEA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92524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19536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1956816"/>
            <a:ext cx="612648" cy="338328"/>
          </a:xfrm>
          <a:prstGeom prst="rect">
            <a:avLst/>
          </a:prstGeom>
          <a:solidFill>
            <a:srgbClr val="DFF1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8820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62456" y="1956816"/>
            <a:ext cx="612648" cy="338328"/>
          </a:xfrm>
          <a:prstGeom prst="rect">
            <a:avLst/>
          </a:prstGeom>
          <a:solidFill>
            <a:srgbClr val="DFEFE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6172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6543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0260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70632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4348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88436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8808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92524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83480" y="2075688"/>
            <a:ext cx="1051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hot R1_0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link R5:DAT/W 104172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stall R0:REQ/E 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0488" y="157276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Aptos"/>
              </a:defRPr>
            </a:pPr>
            <a:r>
              <a:t>libquantum · LRU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90488" y="3191256"/>
            <a:ext cx="612648" cy="338328"/>
          </a:xfrm>
          <a:prstGeom prst="rect">
            <a:avLst/>
          </a:prstGeom>
          <a:solidFill>
            <a:srgbClr val="D65D5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04203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217462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94575" y="3191256"/>
            <a:ext cx="612648" cy="338328"/>
          </a:xfrm>
          <a:prstGeom prst="rect">
            <a:avLst/>
          </a:prstGeom>
          <a:solidFill>
            <a:srgbClr val="D54C4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8291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241798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98663" y="3191256"/>
            <a:ext cx="612648" cy="338328"/>
          </a:xfrm>
          <a:prstGeom prst="rect">
            <a:avLst/>
          </a:prstGeom>
          <a:solidFill>
            <a:srgbClr val="D7686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12379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R20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202116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2752" y="3191256"/>
            <a:ext cx="612648" cy="338328"/>
          </a:xfrm>
          <a:prstGeom prst="rect">
            <a:avLst/>
          </a:prstGeom>
          <a:solidFill>
            <a:srgbClr val="D87B7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16468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R30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172033"/>
                </a:solidFill>
                <a:latin typeface="Aptos"/>
              </a:defRPr>
            </a:pPr>
            <a:r>
              <a:t>175833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6840" y="3191256"/>
            <a:ext cx="612648" cy="338328"/>
          </a:xfrm>
          <a:prstGeom prst="rect">
            <a:avLst/>
          </a:prstGeom>
          <a:solidFill>
            <a:srgbClr val="D98D8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20556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149568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10928" y="3191256"/>
            <a:ext cx="612648" cy="338328"/>
          </a:xfrm>
          <a:prstGeom prst="rect">
            <a:avLst/>
          </a:prstGeom>
          <a:solidFill>
            <a:srgbClr val="DBA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4644" y="321411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104172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0488" y="2779776"/>
            <a:ext cx="612648" cy="338328"/>
          </a:xfrm>
          <a:prstGeom prst="rect">
            <a:avLst/>
          </a:prstGeom>
          <a:solidFill>
            <a:srgbClr val="DAA2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04203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120170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94575" y="2779776"/>
            <a:ext cx="612648" cy="338328"/>
          </a:xfrm>
          <a:prstGeom prst="rect">
            <a:avLst/>
          </a:prstGeom>
          <a:solidFill>
            <a:srgbClr val="DCBEB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08291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81632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98663" y="2779776"/>
            <a:ext cx="612648" cy="338328"/>
          </a:xfrm>
          <a:prstGeom prst="rect">
            <a:avLst/>
          </a:prstGeom>
          <a:solidFill>
            <a:srgbClr val="DDD0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12379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56159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02752" y="2779776"/>
            <a:ext cx="612648" cy="338328"/>
          </a:xfrm>
          <a:prstGeom prst="rect">
            <a:avLst/>
          </a:prstGeom>
          <a:solidFill>
            <a:srgbClr val="DDD4D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16468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50587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06840" y="2779776"/>
            <a:ext cx="612648" cy="338328"/>
          </a:xfrm>
          <a:prstGeom prst="rect">
            <a:avLst/>
          </a:prstGeom>
          <a:solidFill>
            <a:srgbClr val="DDD7D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20556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45016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10928" y="2779776"/>
            <a:ext cx="612648" cy="338328"/>
          </a:xfrm>
          <a:prstGeom prst="rect">
            <a:avLst/>
          </a:prstGeom>
          <a:solidFill>
            <a:srgbClr val="DED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24644" y="280263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35812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90488" y="2368296"/>
            <a:ext cx="612648" cy="338328"/>
          </a:xfrm>
          <a:prstGeom prst="rect">
            <a:avLst/>
          </a:prstGeom>
          <a:solidFill>
            <a:srgbClr val="DDD0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04203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56180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94575" y="2368296"/>
            <a:ext cx="612648" cy="338328"/>
          </a:xfrm>
          <a:prstGeom prst="rect">
            <a:avLst/>
          </a:prstGeom>
          <a:solidFill>
            <a:srgbClr val="DCCCC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08291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61726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98663" y="2368296"/>
            <a:ext cx="612648" cy="338328"/>
          </a:xfrm>
          <a:prstGeom prst="rect">
            <a:avLst/>
          </a:prstGeom>
          <a:solidFill>
            <a:srgbClr val="DEDE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12379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36234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02752" y="2368296"/>
            <a:ext cx="612648" cy="338328"/>
          </a:xfrm>
          <a:prstGeom prst="rect">
            <a:avLst/>
          </a:prstGeom>
          <a:solidFill>
            <a:srgbClr val="DEE2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16468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30666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06840" y="2368296"/>
            <a:ext cx="612648" cy="338328"/>
          </a:xfrm>
          <a:prstGeom prst="rect">
            <a:avLst/>
          </a:prstGeom>
          <a:solidFill>
            <a:srgbClr val="DEE6E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20556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25101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10928" y="2368296"/>
            <a:ext cx="612648" cy="338328"/>
          </a:xfrm>
          <a:prstGeom prst="rect">
            <a:avLst/>
          </a:prstGeom>
          <a:solidFill>
            <a:srgbClr val="DEEA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24644" y="239115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19536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0488" y="1956816"/>
            <a:ext cx="612648" cy="338328"/>
          </a:xfrm>
          <a:prstGeom prst="rect">
            <a:avLst/>
          </a:prstGeom>
          <a:solidFill>
            <a:srgbClr val="DFF1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04203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8820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94575" y="1956816"/>
            <a:ext cx="612648" cy="338328"/>
          </a:xfrm>
          <a:prstGeom prst="rect">
            <a:avLst/>
          </a:prstGeom>
          <a:solidFill>
            <a:srgbClr val="DFEFE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08291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12076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98663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12379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02752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16468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06840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20556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10928" y="1956816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24644" y="197967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3256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0" y="2075688"/>
            <a:ext cx="1051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hot R1_0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link R5:DAT/W 104172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stall R0:REQ/E 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8368" y="3977639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Aptos"/>
              </a:defRPr>
            </a:pPr>
            <a:r>
              <a:t>omnetpp · pseudo_random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8368" y="5596127"/>
            <a:ext cx="612648" cy="338328"/>
          </a:xfrm>
          <a:prstGeom prst="rect">
            <a:avLst/>
          </a:prstGeom>
          <a:solidFill>
            <a:srgbClr val="DEE9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72084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20477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62456" y="5596127"/>
            <a:ext cx="612648" cy="338328"/>
          </a:xfrm>
          <a:prstGeom prst="rect">
            <a:avLst/>
          </a:prstGeom>
          <a:solidFill>
            <a:srgbClr val="DEE5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76172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26461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66543" y="5596127"/>
            <a:ext cx="612648" cy="338328"/>
          </a:xfrm>
          <a:prstGeom prst="rect">
            <a:avLst/>
          </a:prstGeom>
          <a:solidFill>
            <a:srgbClr val="DEE6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080260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24422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70632" y="5596127"/>
            <a:ext cx="612648" cy="338328"/>
          </a:xfrm>
          <a:prstGeom prst="rect">
            <a:avLst/>
          </a:prstGeom>
          <a:solidFill>
            <a:srgbClr val="DEE7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84348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23658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474720" y="5596127"/>
            <a:ext cx="612648" cy="338328"/>
          </a:xfrm>
          <a:prstGeom prst="rect">
            <a:avLst/>
          </a:prstGeom>
          <a:solidFill>
            <a:srgbClr val="DEE7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88436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22760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78808" y="5596127"/>
            <a:ext cx="612648" cy="338328"/>
          </a:xfrm>
          <a:prstGeom prst="rect">
            <a:avLst/>
          </a:prstGeom>
          <a:solidFill>
            <a:srgbClr val="DEEBE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92524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17582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8368" y="5184648"/>
            <a:ext cx="612648" cy="338328"/>
          </a:xfrm>
          <a:prstGeom prst="rect">
            <a:avLst/>
          </a:prstGeom>
          <a:solidFill>
            <a:srgbClr val="DEEC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2084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15939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62456" y="5184648"/>
            <a:ext cx="612648" cy="338328"/>
          </a:xfrm>
          <a:prstGeom prst="rect">
            <a:avLst/>
          </a:prstGeom>
          <a:solidFill>
            <a:srgbClr val="DFF0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376172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10416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66543" y="518464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080260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7496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70632" y="5184648"/>
            <a:ext cx="612648" cy="338328"/>
          </a:xfrm>
          <a:prstGeom prst="rect">
            <a:avLst/>
          </a:prstGeom>
          <a:solidFill>
            <a:srgbClr val="DFF2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84348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6963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474720" y="5184648"/>
            <a:ext cx="612648" cy="338328"/>
          </a:xfrm>
          <a:prstGeom prst="rect">
            <a:avLst/>
          </a:prstGeom>
          <a:solidFill>
            <a:srgbClr val="DFF3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88436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6266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178808" y="5184648"/>
            <a:ext cx="612648" cy="338328"/>
          </a:xfrm>
          <a:prstGeom prst="rect">
            <a:avLst/>
          </a:prstGeom>
          <a:solidFill>
            <a:srgbClr val="DFF3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92524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6106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8368" y="477316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2084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7754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362456" y="477316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76172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8216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066543" y="4773168"/>
            <a:ext cx="612648" cy="338328"/>
          </a:xfrm>
          <a:prstGeom prst="rect">
            <a:avLst/>
          </a:prstGeom>
          <a:solidFill>
            <a:srgbClr val="DFF4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080260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5268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70632" y="4773168"/>
            <a:ext cx="612648" cy="338328"/>
          </a:xfrm>
          <a:prstGeom prst="rect">
            <a:avLst/>
          </a:prstGeom>
          <a:solidFill>
            <a:srgbClr val="DFF4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84348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4653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74720" y="4773168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88436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3984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178808" y="4773168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92524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3345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8368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72084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62456" y="4361688"/>
            <a:ext cx="612648" cy="338328"/>
          </a:xfrm>
          <a:prstGeom prst="rect">
            <a:avLst/>
          </a:prstGeom>
          <a:solidFill>
            <a:srgbClr val="DFF6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76172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1753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066543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80260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70632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84348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74720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88436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178808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192524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983480" y="4480559"/>
            <a:ext cx="1051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hot R1_0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link R5:DAT/W 17582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stall R0:REQ/E 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90488" y="3977639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Aptos"/>
              </a:defRPr>
            </a:pPr>
            <a:r>
              <a:t>omnetpp · LRU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190488" y="5596127"/>
            <a:ext cx="612648" cy="338328"/>
          </a:xfrm>
          <a:prstGeom prst="rect">
            <a:avLst/>
          </a:prstGeom>
          <a:solidFill>
            <a:srgbClr val="DEE9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04203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20477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894575" y="5596127"/>
            <a:ext cx="612648" cy="338328"/>
          </a:xfrm>
          <a:prstGeom prst="rect">
            <a:avLst/>
          </a:prstGeom>
          <a:solidFill>
            <a:srgbClr val="DEE5E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908291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26461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598663" y="5596127"/>
            <a:ext cx="612648" cy="338328"/>
          </a:xfrm>
          <a:prstGeom prst="rect">
            <a:avLst/>
          </a:prstGeom>
          <a:solidFill>
            <a:srgbClr val="DEE6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612379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24422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302752" y="5596127"/>
            <a:ext cx="612648" cy="338328"/>
          </a:xfrm>
          <a:prstGeom prst="rect">
            <a:avLst/>
          </a:prstGeom>
          <a:solidFill>
            <a:srgbClr val="DEE7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316468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23658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006840" y="5596127"/>
            <a:ext cx="612648" cy="338328"/>
          </a:xfrm>
          <a:prstGeom prst="rect">
            <a:avLst/>
          </a:prstGeom>
          <a:solidFill>
            <a:srgbClr val="DEE7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20556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22760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710928" y="5596127"/>
            <a:ext cx="612648" cy="338328"/>
          </a:xfrm>
          <a:prstGeom prst="rect">
            <a:avLst/>
          </a:prstGeom>
          <a:solidFill>
            <a:srgbClr val="DEEBE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24644" y="561898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17582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190488" y="5184648"/>
            <a:ext cx="612648" cy="338328"/>
          </a:xfrm>
          <a:prstGeom prst="rect">
            <a:avLst/>
          </a:prstGeom>
          <a:solidFill>
            <a:srgbClr val="DEEC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204203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15939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894575" y="5184648"/>
            <a:ext cx="612648" cy="338328"/>
          </a:xfrm>
          <a:prstGeom prst="rect">
            <a:avLst/>
          </a:prstGeom>
          <a:solidFill>
            <a:srgbClr val="DFF0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908291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10416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598663" y="518464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612379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7496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302752" y="5184648"/>
            <a:ext cx="612648" cy="338328"/>
          </a:xfrm>
          <a:prstGeom prst="rect">
            <a:avLst/>
          </a:prstGeom>
          <a:solidFill>
            <a:srgbClr val="DFF2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316468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6963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006840" y="5184648"/>
            <a:ext cx="612648" cy="338328"/>
          </a:xfrm>
          <a:prstGeom prst="rect">
            <a:avLst/>
          </a:prstGeom>
          <a:solidFill>
            <a:srgbClr val="DFF3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020556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6266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710928" y="5184648"/>
            <a:ext cx="612648" cy="338328"/>
          </a:xfrm>
          <a:prstGeom prst="rect">
            <a:avLst/>
          </a:prstGeom>
          <a:solidFill>
            <a:srgbClr val="DFF3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724644" y="520750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6106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190488" y="477316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204203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7754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894575" y="4773168"/>
            <a:ext cx="612648" cy="338328"/>
          </a:xfrm>
          <a:prstGeom prst="rect">
            <a:avLst/>
          </a:prstGeom>
          <a:solidFill>
            <a:srgbClr val="DFF2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908291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8216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598663" y="4773168"/>
            <a:ext cx="612648" cy="338328"/>
          </a:xfrm>
          <a:prstGeom prst="rect">
            <a:avLst/>
          </a:prstGeom>
          <a:solidFill>
            <a:srgbClr val="DFF4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612379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5268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302752" y="4773168"/>
            <a:ext cx="612648" cy="338328"/>
          </a:xfrm>
          <a:prstGeom prst="rect">
            <a:avLst/>
          </a:prstGeom>
          <a:solidFill>
            <a:srgbClr val="DFF4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316468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4653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006840" y="4773168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020556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3984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710928" y="4773168"/>
            <a:ext cx="612648" cy="338328"/>
          </a:xfrm>
          <a:prstGeom prst="rect">
            <a:avLst/>
          </a:prstGeom>
          <a:solidFill>
            <a:srgbClr val="DFF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724644" y="479602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3345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190488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204203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1201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894575" y="4361688"/>
            <a:ext cx="612648" cy="338328"/>
          </a:xfrm>
          <a:prstGeom prst="rect">
            <a:avLst/>
          </a:prstGeom>
          <a:solidFill>
            <a:srgbClr val="DFF6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908291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R13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1753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598663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12379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R23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302752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316468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R33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006840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020556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R43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710928" y="4361688"/>
            <a:ext cx="612648" cy="338328"/>
          </a:xfrm>
          <a:prstGeom prst="rect">
            <a:avLst/>
          </a:prstGeom>
          <a:solidFill>
            <a:srgbClr val="DFF7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24644" y="438454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R53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80" b="1">
                <a:solidFill>
                  <a:srgbClr val="172033"/>
                </a:solidFill>
                <a:latin typeface="Aptos"/>
              </a:defRPr>
            </a:pPr>
            <a:r>
              <a:t>552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515600" y="4480559"/>
            <a:ext cx="1051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hot R1_0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link R5:DAT/W 17582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D95C5C"/>
                </a:solidFill>
                <a:latin typeface="Aptos"/>
              </a:defRPr>
            </a:pPr>
            <a:r>
              <a:t>stall R0:REQ/E 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519672"/>
            <a:ext cx="10241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58C"/>
                </a:solidFill>
                <a:latin typeface="Microsoft YaHei"/>
              </a:defRPr>
            </a:pPr>
            <a:r>
              <a:t>依据：router_hotspots.csv；四图共用绝对色标；数值为单一公开代理执行 flit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21792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结论与可复现入口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5285232" cy="4480560"/>
          </a:xfrm>
          <a:prstGeom prst="roundRect">
            <a:avLst/>
          </a:prstGeom>
          <a:solidFill>
            <a:srgbClr val="12233D"/>
          </a:solidFill>
          <a:ln w="10160"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7373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1E4D2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176272"/>
            <a:ext cx="4617720" cy="2606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LRU 相对伪随机：libquantum +0.00%，omnetpp +0.00%。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两 workload 几何平均性能变化 +0.00%。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CMN XOR 对连续 cache-line 地址严格均匀；真实 workload 的均衡度以 HNF CV 为准，XY 路径仍可能形成热点。</a:t>
            </a:r>
          </a:p>
          <a:p>
            <a:pPr>
              <a:spcAft>
                <a:spcPts val="600"/>
              </a:spcAft>
              <a:defRPr sz="1250">
                <a:solidFill>
                  <a:srgbClr val="DCE7F5"/>
                </a:solidFill>
                <a:latin typeface="Microsoft YaHei"/>
              </a:defRPr>
            </a:pPr>
            <a:r>
              <a:t>•  未触发 SLC victim：libquantum, omnetpp；对应性能差仅作描述，不归因替换策略。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285232" cy="4480560"/>
          </a:xfrm>
          <a:prstGeom prst="roundRect">
            <a:avLst/>
          </a:prstGeom>
          <a:solidFill>
            <a:srgbClr val="0E213A"/>
          </a:solidFill>
          <a:ln w="10160"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73736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1E4D2"/>
                </a:solidFill>
                <a:latin typeface="Microsoft YaHei"/>
              </a:defRPr>
            </a:pPr>
            <a:r>
              <a:t>复现入口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8816" y="2176272"/>
            <a:ext cx="4507992" cy="2514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configs/example/kmhv2_chi_6x4_hnf_se.py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util/xs_scripts/chi_hnf_spec06.py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  run-se --libquantum-bin … --omnetpp-bin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  analyze --output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util/xs_scripts/chi_hnf_presentation.py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DCE7F5"/>
                </a:solidFill>
                <a:latin typeface="Consolas"/>
              </a:defRPr>
            </a:pPr>
            <a:r>
              <a:t>  --summary …/analysis/summary.json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4983480"/>
            <a:ext cx="44988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7C878"/>
                </a:solidFill>
                <a:latin typeface="Microsoft YaHei"/>
              </a:defRPr>
            </a:pPr>
            <a:r>
              <a:t>公开源码代理负载，非 SPEC CPU2006。二进制/INI/gem5/config 均以 SHA-256 固化。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327648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186A0"/>
                </a:solidFill>
                <a:latin typeface="Apto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